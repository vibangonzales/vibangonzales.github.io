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369" r:id="rId3"/>
    <p:sldId id="366" r:id="rId4"/>
    <p:sldId id="367" r:id="rId5"/>
    <p:sldId id="370" r:id="rId6"/>
    <p:sldId id="371" r:id="rId7"/>
    <p:sldId id="359" r:id="rId8"/>
    <p:sldId id="368" r:id="rId9"/>
    <p:sldId id="293" r:id="rId10"/>
    <p:sldId id="257" r:id="rId11"/>
    <p:sldId id="358" r:id="rId12"/>
    <p:sldId id="288" r:id="rId13"/>
    <p:sldId id="289" r:id="rId14"/>
    <p:sldId id="290" r:id="rId15"/>
    <p:sldId id="362" r:id="rId16"/>
    <p:sldId id="355" r:id="rId17"/>
    <p:sldId id="354" r:id="rId18"/>
    <p:sldId id="356" r:id="rId19"/>
    <p:sldId id="35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96" autoAdjust="0"/>
    <p:restoredTop sz="94660"/>
  </p:normalViewPr>
  <p:slideViewPr>
    <p:cSldViewPr snapToGrid="0">
      <p:cViewPr>
        <p:scale>
          <a:sx n="80" d="100"/>
          <a:sy n="80" d="100"/>
        </p:scale>
        <p:origin x="14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6C7D7-4889-47EB-A61C-80807F46E967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A6ED5-9068-4C24-9B7F-2DED309A4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3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23FA-F957-425F-A19B-1992B002C79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2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49A4-2CDF-419D-AB58-FC4F972098A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85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9062-7856-4236-9782-80A45817E554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1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DEA4-6B21-4B1E-BD44-31EC20795462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0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05572-E2D7-495F-AB67-49C30CA7B89F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2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3ECB-9082-49D8-AAD8-D70F1DB16A2B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9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30A33-18EA-4D64-8CFF-E621876F7BF9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7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5053-1A04-4BF9-A5BF-3FC4D8B26D41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9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7D434-9F1A-4D7F-89C8-7873694108A2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88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FE9E-9548-4007-9AE5-6887F5774ADF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A46E2-C37D-43A9-AC4F-E3DD4C16C411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3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4E972-129A-4C25-927F-665F4C2FD5D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1EEE2-75D1-4BD2-8173-6791A109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2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CBBF-0529-EE22-AA4F-6BCE84F8A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– CWZ Standard – </a:t>
            </a:r>
            <a:br>
              <a:rPr lang="en-US" sz="4400" dirty="0"/>
            </a:br>
            <a:r>
              <a:rPr lang="en-US" sz="4400" dirty="0"/>
              <a:t>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5C308-EEE0-F631-176D-2F3B4C467D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Manny Insignares</a:t>
            </a:r>
          </a:p>
          <a:p>
            <a:r>
              <a:rPr lang="en-US" dirty="0"/>
              <a:t>March 21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AE5F3-F220-E398-D987-ADA2AE96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8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30BE-641F-D1A1-E7FF-2147AB4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CWZ Reference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B4854-95B9-CBFD-ED64-1E8461AE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2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093BC1-F7C8-8764-0A0A-9827AC21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3</a:t>
            </a:fld>
            <a:endParaRPr lang="en-US"/>
          </a:p>
        </p:txBody>
      </p:sp>
      <p:sp>
        <p:nvSpPr>
          <p:cNvPr id="79" name="Title 1">
            <a:extLst>
              <a:ext uri="{FF2B5EF4-FFF2-40B4-BE49-F238E27FC236}">
                <a16:creationId xmlns:a16="http://schemas.microsoft.com/office/drawing/2014/main" id="{DADA20E0-C8D4-8AA9-D759-0B3EFE4CC413}"/>
              </a:ext>
            </a:extLst>
          </p:cNvPr>
          <p:cNvSpPr txBox="1">
            <a:spLocks/>
          </p:cNvSpPr>
          <p:nvPr/>
        </p:nvSpPr>
        <p:spPr>
          <a:xfrm>
            <a:off x="609796" y="70338"/>
            <a:ext cx="7886700" cy="55360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Connected Work Zone Physical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2E1E6-945A-72F5-7488-B15A2672F427}"/>
              </a:ext>
            </a:extLst>
          </p:cNvPr>
          <p:cNvSpPr/>
          <p:nvPr/>
        </p:nvSpPr>
        <p:spPr>
          <a:xfrm>
            <a:off x="2986016" y="1672939"/>
            <a:ext cx="1052944" cy="50798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Work Zone Center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1F708A-C74D-E3DB-DFB2-F22ABF19F365}"/>
              </a:ext>
            </a:extLst>
          </p:cNvPr>
          <p:cNvCxnSpPr>
            <a:cxnSpLocks/>
            <a:stCxn id="17" idx="1"/>
            <a:endCxn id="21" idx="3"/>
          </p:cNvCxnSpPr>
          <p:nvPr/>
        </p:nvCxnSpPr>
        <p:spPr>
          <a:xfrm flipH="1">
            <a:off x="4038960" y="1206138"/>
            <a:ext cx="1394713" cy="7402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CBD7AC5-2F8B-2808-F25A-A11102E35E87}"/>
              </a:ext>
            </a:extLst>
          </p:cNvPr>
          <p:cNvSpPr/>
          <p:nvPr/>
        </p:nvSpPr>
        <p:spPr>
          <a:xfrm>
            <a:off x="2986016" y="942131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Traffic Management Center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B636B4-BB42-5469-3A28-112F30B1D412}"/>
              </a:ext>
            </a:extLst>
          </p:cNvPr>
          <p:cNvSpPr/>
          <p:nvPr/>
        </p:nvSpPr>
        <p:spPr>
          <a:xfrm>
            <a:off x="5433673" y="934729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External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Consumer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28690-7C89-3A71-3E40-AC7F7B8F9033}"/>
              </a:ext>
            </a:extLst>
          </p:cNvPr>
          <p:cNvSpPr txBox="1"/>
          <p:nvPr/>
        </p:nvSpPr>
        <p:spPr>
          <a:xfrm>
            <a:off x="4047724" y="894372"/>
            <a:ext cx="1289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WorkZoneFeed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6A315C-67CE-13D9-3036-9A0001685574}"/>
              </a:ext>
            </a:extLst>
          </p:cNvPr>
          <p:cNvSpPr/>
          <p:nvPr/>
        </p:nvSpPr>
        <p:spPr>
          <a:xfrm>
            <a:off x="5433673" y="1652072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Traffic Management Center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770C46-D3F6-CF37-7857-7A649ECD29FB}"/>
              </a:ext>
            </a:extLst>
          </p:cNvPr>
          <p:cNvCxnSpPr>
            <a:cxnSpLocks/>
            <a:stCxn id="9" idx="1"/>
            <a:endCxn id="3" idx="3"/>
          </p:cNvCxnSpPr>
          <p:nvPr/>
        </p:nvCxnSpPr>
        <p:spPr>
          <a:xfrm flipH="1">
            <a:off x="4038960" y="1923481"/>
            <a:ext cx="1394713" cy="3451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6AB36A6-E58A-FED4-1755-989F99C869DC}"/>
              </a:ext>
            </a:extLst>
          </p:cNvPr>
          <p:cNvSpPr txBox="1"/>
          <p:nvPr/>
        </p:nvSpPr>
        <p:spPr>
          <a:xfrm>
            <a:off x="4181656" y="1610193"/>
            <a:ext cx="102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DeviceFeed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0D2BC3-FB1D-3B04-D08C-C885C7BF5526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4043583" y="2679345"/>
            <a:ext cx="1394713" cy="7402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D207024-50FF-E0B4-11CE-7D43B41C68B9}"/>
              </a:ext>
            </a:extLst>
          </p:cNvPr>
          <p:cNvSpPr/>
          <p:nvPr/>
        </p:nvSpPr>
        <p:spPr>
          <a:xfrm>
            <a:off x="2990639" y="2415338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Work Zone Center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14D784-8ED2-3722-4EE1-46672C1ED8A9}"/>
              </a:ext>
            </a:extLst>
          </p:cNvPr>
          <p:cNvSpPr/>
          <p:nvPr/>
        </p:nvSpPr>
        <p:spPr>
          <a:xfrm>
            <a:off x="5438296" y="2407936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External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Consumer Center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186684-3BE6-28AE-FD22-60BB118F88E3}"/>
              </a:ext>
            </a:extLst>
          </p:cNvPr>
          <p:cNvSpPr txBox="1"/>
          <p:nvPr/>
        </p:nvSpPr>
        <p:spPr>
          <a:xfrm>
            <a:off x="4205881" y="2367579"/>
            <a:ext cx="102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DeviceFeed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1A43E1-DBBA-FA4D-80BB-B5DDD0123DEC}"/>
              </a:ext>
            </a:extLst>
          </p:cNvPr>
          <p:cNvSpPr txBox="1"/>
          <p:nvPr/>
        </p:nvSpPr>
        <p:spPr>
          <a:xfrm flipH="1">
            <a:off x="1207281" y="589494"/>
            <a:ext cx="7289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Work Zone Data Exchange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BDF88B0-5F36-816A-57E3-D1801BFAFB56}"/>
              </a:ext>
            </a:extLst>
          </p:cNvPr>
          <p:cNvSpPr/>
          <p:nvPr/>
        </p:nvSpPr>
        <p:spPr>
          <a:xfrm>
            <a:off x="1207283" y="589493"/>
            <a:ext cx="7308066" cy="24590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4677AB-7C8C-1C8A-4C0A-4804BAE329DA}"/>
              </a:ext>
            </a:extLst>
          </p:cNvPr>
          <p:cNvSpPr/>
          <p:nvPr/>
        </p:nvSpPr>
        <p:spPr>
          <a:xfrm>
            <a:off x="6883773" y="4114577"/>
            <a:ext cx="1052944" cy="5405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External   Consumer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Center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2801C6-CA5E-536F-E1E9-F14B89D25CB2}"/>
              </a:ext>
            </a:extLst>
          </p:cNvPr>
          <p:cNvCxnSpPr>
            <a:cxnSpLocks/>
          </p:cNvCxnSpPr>
          <p:nvPr/>
        </p:nvCxnSpPr>
        <p:spPr>
          <a:xfrm flipH="1">
            <a:off x="5336686" y="4384868"/>
            <a:ext cx="1547087" cy="12439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2EE4A1-FDFC-4FFA-88B2-8DED1EBFF547}"/>
              </a:ext>
            </a:extLst>
          </p:cNvPr>
          <p:cNvCxnSpPr>
            <a:cxnSpLocks/>
            <a:stCxn id="13" idx="1"/>
            <a:endCxn id="7" idx="3"/>
          </p:cNvCxnSpPr>
          <p:nvPr/>
        </p:nvCxnSpPr>
        <p:spPr>
          <a:xfrm flipH="1">
            <a:off x="2889029" y="4397308"/>
            <a:ext cx="1394713" cy="7402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59D58D8-AFD1-98A6-3586-BBC54EC36D8B}"/>
              </a:ext>
            </a:extLst>
          </p:cNvPr>
          <p:cNvSpPr/>
          <p:nvPr/>
        </p:nvSpPr>
        <p:spPr>
          <a:xfrm>
            <a:off x="1836085" y="4133301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Traffic Management Center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801F2A-1D12-5DEF-2F22-988FEE8E7B20}"/>
              </a:ext>
            </a:extLst>
          </p:cNvPr>
          <p:cNvSpPr/>
          <p:nvPr/>
        </p:nvSpPr>
        <p:spPr>
          <a:xfrm>
            <a:off x="4283742" y="4125899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WZ Data Exchange Intermediary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E71CC0-6DE2-2F58-E9C9-C5F3D9955E48}"/>
              </a:ext>
            </a:extLst>
          </p:cNvPr>
          <p:cNvSpPr txBox="1"/>
          <p:nvPr/>
        </p:nvSpPr>
        <p:spPr>
          <a:xfrm>
            <a:off x="2939004" y="4092576"/>
            <a:ext cx="1289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WorkZoneFeed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E4F749-D7DB-B625-8308-2FDC13BD99B8}"/>
              </a:ext>
            </a:extLst>
          </p:cNvPr>
          <p:cNvSpPr txBox="1"/>
          <p:nvPr/>
        </p:nvSpPr>
        <p:spPr>
          <a:xfrm>
            <a:off x="5528651" y="4085542"/>
            <a:ext cx="1289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WorkZoneFeed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E67334B-FB73-B542-AF0D-DF1EC02ACBB4}"/>
              </a:ext>
            </a:extLst>
          </p:cNvPr>
          <p:cNvSpPr/>
          <p:nvPr/>
        </p:nvSpPr>
        <p:spPr>
          <a:xfrm>
            <a:off x="1207283" y="3745085"/>
            <a:ext cx="7308066" cy="25818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D96A86-48F1-FF81-1F71-EC0E7422E1F8}"/>
              </a:ext>
            </a:extLst>
          </p:cNvPr>
          <p:cNvSpPr txBox="1"/>
          <p:nvPr/>
        </p:nvSpPr>
        <p:spPr>
          <a:xfrm flipH="1">
            <a:off x="1207282" y="3761713"/>
            <a:ext cx="7289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Work Zone Data Exchange with Intermediary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E276EB-FD19-B32E-8BA0-5BA9E60ECE11}"/>
              </a:ext>
            </a:extLst>
          </p:cNvPr>
          <p:cNvSpPr/>
          <p:nvPr/>
        </p:nvSpPr>
        <p:spPr>
          <a:xfrm>
            <a:off x="6879156" y="4876574"/>
            <a:ext cx="1052944" cy="5405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Traffic Management  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Center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C5B5AA-6B88-C79E-88C4-5AC6FCC5503C}"/>
              </a:ext>
            </a:extLst>
          </p:cNvPr>
          <p:cNvCxnSpPr>
            <a:cxnSpLocks/>
          </p:cNvCxnSpPr>
          <p:nvPr/>
        </p:nvCxnSpPr>
        <p:spPr>
          <a:xfrm flipH="1">
            <a:off x="5332069" y="5146865"/>
            <a:ext cx="1547087" cy="12439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D9B1FB-00BB-003F-504B-3D8CD0FBBD33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>
            <a:off x="2884412" y="5159305"/>
            <a:ext cx="1394713" cy="7402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74F15D6-D161-C621-200B-661687ABA133}"/>
              </a:ext>
            </a:extLst>
          </p:cNvPr>
          <p:cNvSpPr/>
          <p:nvPr/>
        </p:nvSpPr>
        <p:spPr>
          <a:xfrm>
            <a:off x="1831468" y="4895298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Work Zone Center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BA72CD-9A21-CD68-087D-5EEA209AAE9F}"/>
              </a:ext>
            </a:extLst>
          </p:cNvPr>
          <p:cNvSpPr/>
          <p:nvPr/>
        </p:nvSpPr>
        <p:spPr>
          <a:xfrm>
            <a:off x="4279125" y="4887896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WZ Data Exchange Intermediary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AE8D33-6853-63D2-1397-21DEF9E1A51C}"/>
              </a:ext>
            </a:extLst>
          </p:cNvPr>
          <p:cNvSpPr txBox="1"/>
          <p:nvPr/>
        </p:nvSpPr>
        <p:spPr>
          <a:xfrm>
            <a:off x="3004727" y="4847539"/>
            <a:ext cx="102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DeviceFeed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36770F-7100-9329-127B-933ED4BD0A35}"/>
              </a:ext>
            </a:extLst>
          </p:cNvPr>
          <p:cNvSpPr txBox="1"/>
          <p:nvPr/>
        </p:nvSpPr>
        <p:spPr>
          <a:xfrm>
            <a:off x="5601408" y="4847539"/>
            <a:ext cx="102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DeviceFeed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F9B78E-BE28-5343-58D6-CB58F4AE8B05}"/>
              </a:ext>
            </a:extLst>
          </p:cNvPr>
          <p:cNvSpPr/>
          <p:nvPr/>
        </p:nvSpPr>
        <p:spPr>
          <a:xfrm>
            <a:off x="6911487" y="5647812"/>
            <a:ext cx="1052944" cy="5405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External   Consumer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Center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A7D58C-591A-0BE1-E4B4-858AACA58661}"/>
              </a:ext>
            </a:extLst>
          </p:cNvPr>
          <p:cNvCxnSpPr>
            <a:cxnSpLocks/>
          </p:cNvCxnSpPr>
          <p:nvPr/>
        </p:nvCxnSpPr>
        <p:spPr>
          <a:xfrm flipH="1">
            <a:off x="5364400" y="5918103"/>
            <a:ext cx="1547087" cy="12439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69F5686-14A3-1759-D683-FD61F34FCF8A}"/>
              </a:ext>
            </a:extLst>
          </p:cNvPr>
          <p:cNvCxnSpPr>
            <a:cxnSpLocks/>
            <a:stCxn id="40" idx="1"/>
            <a:endCxn id="37" idx="3"/>
          </p:cNvCxnSpPr>
          <p:nvPr/>
        </p:nvCxnSpPr>
        <p:spPr>
          <a:xfrm flipH="1">
            <a:off x="2916743" y="5930543"/>
            <a:ext cx="1394713" cy="7402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75451FE-A7E2-EC4B-AF6E-622E0A2928BF}"/>
              </a:ext>
            </a:extLst>
          </p:cNvPr>
          <p:cNvSpPr/>
          <p:nvPr/>
        </p:nvSpPr>
        <p:spPr>
          <a:xfrm>
            <a:off x="1863799" y="5666536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Work Zone Center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5D17CF-04AC-4F7B-D794-2BB4D4E8322E}"/>
              </a:ext>
            </a:extLst>
          </p:cNvPr>
          <p:cNvSpPr/>
          <p:nvPr/>
        </p:nvSpPr>
        <p:spPr>
          <a:xfrm>
            <a:off x="4311456" y="5659134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WZ Data Exchange Intermediary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68A6ED-E522-A02A-DC6C-1DA86D92EE0B}"/>
              </a:ext>
            </a:extLst>
          </p:cNvPr>
          <p:cNvSpPr txBox="1"/>
          <p:nvPr/>
        </p:nvSpPr>
        <p:spPr>
          <a:xfrm>
            <a:off x="3037058" y="5618777"/>
            <a:ext cx="102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DeviceFeed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743D4B-D4D2-6F74-435D-3EBFC5B16B46}"/>
              </a:ext>
            </a:extLst>
          </p:cNvPr>
          <p:cNvSpPr txBox="1"/>
          <p:nvPr/>
        </p:nvSpPr>
        <p:spPr>
          <a:xfrm>
            <a:off x="5626705" y="5625811"/>
            <a:ext cx="102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DeviceFeed</a:t>
            </a:r>
          </a:p>
        </p:txBody>
      </p:sp>
    </p:spTree>
    <p:extLst>
      <p:ext uri="{BB962C8B-B14F-4D97-AF65-F5344CB8AC3E}">
        <p14:creationId xmlns:p14="http://schemas.microsoft.com/office/powerpoint/2010/main" val="389700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093BC1-F7C8-8764-0A0A-9827AC21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4</a:t>
            </a:fld>
            <a:endParaRPr lang="en-US"/>
          </a:p>
        </p:txBody>
      </p:sp>
      <p:sp>
        <p:nvSpPr>
          <p:cNvPr id="79" name="Title 1">
            <a:extLst>
              <a:ext uri="{FF2B5EF4-FFF2-40B4-BE49-F238E27FC236}">
                <a16:creationId xmlns:a16="http://schemas.microsoft.com/office/drawing/2014/main" id="{DADA20E0-C8D4-8AA9-D759-0B3EFE4CC413}"/>
              </a:ext>
            </a:extLst>
          </p:cNvPr>
          <p:cNvSpPr txBox="1">
            <a:spLocks/>
          </p:cNvSpPr>
          <p:nvPr/>
        </p:nvSpPr>
        <p:spPr>
          <a:xfrm>
            <a:off x="609796" y="70338"/>
            <a:ext cx="7886700" cy="553604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Connected Work Zone Physical Architecture</a:t>
            </a:r>
          </a:p>
          <a:p>
            <a:pPr algn="ctr"/>
            <a:r>
              <a:rPr lang="en-US" sz="3600" dirty="0"/>
              <a:t>(Compatibility with the Connected Vehicle Environment)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B30B0A-273D-3D9E-B816-F9C584489FF3}"/>
              </a:ext>
            </a:extLst>
          </p:cNvPr>
          <p:cNvSpPr/>
          <p:nvPr/>
        </p:nvSpPr>
        <p:spPr>
          <a:xfrm>
            <a:off x="6745227" y="1426782"/>
            <a:ext cx="1052944" cy="5405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Generic  Vehicle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(OBU)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6815683-C25C-A412-877A-690F9C2A7535}"/>
              </a:ext>
            </a:extLst>
          </p:cNvPr>
          <p:cNvCxnSpPr>
            <a:cxnSpLocks/>
          </p:cNvCxnSpPr>
          <p:nvPr/>
        </p:nvCxnSpPr>
        <p:spPr>
          <a:xfrm flipH="1">
            <a:off x="5198140" y="1697073"/>
            <a:ext cx="1547087" cy="12439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2F90A0-9485-66FF-EBFA-C730D3E534AB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2750483" y="1709513"/>
            <a:ext cx="1394713" cy="7402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D849C-768B-2FE6-4E5D-B5A1356BED9C}"/>
              </a:ext>
            </a:extLst>
          </p:cNvPr>
          <p:cNvSpPr/>
          <p:nvPr/>
        </p:nvSpPr>
        <p:spPr>
          <a:xfrm>
            <a:off x="1697539" y="1445506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Traffic Management Center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6F872C-165F-ED69-F5AB-E18915465214}"/>
              </a:ext>
            </a:extLst>
          </p:cNvPr>
          <p:cNvSpPr/>
          <p:nvPr/>
        </p:nvSpPr>
        <p:spPr>
          <a:xfrm>
            <a:off x="4145196" y="1438104"/>
            <a:ext cx="1052944" cy="5428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Roadside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Unit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(RSU)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DFDBD-F877-831B-6EB1-BFD7922800B1}"/>
              </a:ext>
            </a:extLst>
          </p:cNvPr>
          <p:cNvSpPr txBox="1"/>
          <p:nvPr/>
        </p:nvSpPr>
        <p:spPr>
          <a:xfrm>
            <a:off x="2870798" y="1397747"/>
            <a:ext cx="1142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NTCIP 1218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A5F70F-EE54-4E20-6833-780354A84576}"/>
              </a:ext>
            </a:extLst>
          </p:cNvPr>
          <p:cNvSpPr txBox="1"/>
          <p:nvPr/>
        </p:nvSpPr>
        <p:spPr>
          <a:xfrm>
            <a:off x="5390105" y="1397747"/>
            <a:ext cx="12752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J2945/4 RSM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0209B7-8F39-D52C-8D57-BD6B5B78372B}"/>
              </a:ext>
            </a:extLst>
          </p:cNvPr>
          <p:cNvSpPr txBox="1"/>
          <p:nvPr/>
        </p:nvSpPr>
        <p:spPr>
          <a:xfrm flipH="1">
            <a:off x="2773568" y="1003402"/>
            <a:ext cx="4192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Compatibility with the Connected Vehicle Environment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4D28238-5B31-6BD2-B8F4-D1D224D16A75}"/>
              </a:ext>
            </a:extLst>
          </p:cNvPr>
          <p:cNvSpPr/>
          <p:nvPr/>
        </p:nvSpPr>
        <p:spPr>
          <a:xfrm>
            <a:off x="1480485" y="967300"/>
            <a:ext cx="6601333" cy="14093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9BA24AED-5C51-4296-F81E-6E6091D2A00E}"/>
              </a:ext>
            </a:extLst>
          </p:cNvPr>
          <p:cNvSpPr/>
          <p:nvPr/>
        </p:nvSpPr>
        <p:spPr>
          <a:xfrm rot="16200000">
            <a:off x="4276037" y="2809482"/>
            <a:ext cx="942109" cy="7632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E927D-B1C6-FBDF-9D04-AC9E207CEE72}"/>
              </a:ext>
            </a:extLst>
          </p:cNvPr>
          <p:cNvSpPr txBox="1"/>
          <p:nvPr/>
        </p:nvSpPr>
        <p:spPr>
          <a:xfrm flipH="1">
            <a:off x="2610338" y="3782283"/>
            <a:ext cx="39450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diagram will be included in an Annex that will contain guidance for connected work zones that will deploy elements of the connected vehicle environment.</a:t>
            </a:r>
          </a:p>
        </p:txBody>
      </p:sp>
    </p:spTree>
    <p:extLst>
      <p:ext uri="{BB962C8B-B14F-4D97-AF65-F5344CB8AC3E}">
        <p14:creationId xmlns:p14="http://schemas.microsoft.com/office/powerpoint/2010/main" val="77445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30BE-641F-D1A1-E7FF-2147AB4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ARC-IT Service Package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50B0A-3286-2570-9279-3080443A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B4854-95B9-CBFD-ED64-1E8461AE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39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C9C4A31-6969-2C96-1326-318DE7135B5B}"/>
              </a:ext>
            </a:extLst>
          </p:cNvPr>
          <p:cNvGrpSpPr/>
          <p:nvPr/>
        </p:nvGrpSpPr>
        <p:grpSpPr>
          <a:xfrm>
            <a:off x="0" y="6169"/>
            <a:ext cx="9059779" cy="6413299"/>
            <a:chOff x="0" y="6169"/>
            <a:chExt cx="9059779" cy="64132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7316B69-179A-0A3F-4E1B-232CA0DDB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53" y="438531"/>
              <a:ext cx="8963526" cy="5980937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8C0B9BE-B5B9-C718-10F6-4019C48D7905}"/>
                </a:ext>
              </a:extLst>
            </p:cNvPr>
            <p:cNvSpPr/>
            <p:nvPr/>
          </p:nvSpPr>
          <p:spPr>
            <a:xfrm>
              <a:off x="1305079" y="1289066"/>
              <a:ext cx="762699" cy="342865"/>
            </a:xfrm>
            <a:prstGeom prst="round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069136F-02B9-209C-D8CE-44488E380863}"/>
                </a:ext>
              </a:extLst>
            </p:cNvPr>
            <p:cNvSpPr/>
            <p:nvPr/>
          </p:nvSpPr>
          <p:spPr>
            <a:xfrm>
              <a:off x="1389743" y="2152677"/>
              <a:ext cx="762699" cy="342865"/>
            </a:xfrm>
            <a:prstGeom prst="round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53C4B68-336F-3837-922F-5A98A0F8481A}"/>
                </a:ext>
              </a:extLst>
            </p:cNvPr>
            <p:cNvSpPr/>
            <p:nvPr/>
          </p:nvSpPr>
          <p:spPr>
            <a:xfrm>
              <a:off x="1355869" y="4193146"/>
              <a:ext cx="762699" cy="342865"/>
            </a:xfrm>
            <a:prstGeom prst="round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EDA44D6-8F49-2D58-DFAD-3B3ABD717D41}"/>
                </a:ext>
              </a:extLst>
            </p:cNvPr>
            <p:cNvSpPr/>
            <p:nvPr/>
          </p:nvSpPr>
          <p:spPr>
            <a:xfrm>
              <a:off x="1372797" y="4845088"/>
              <a:ext cx="762699" cy="342865"/>
            </a:xfrm>
            <a:prstGeom prst="round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909D523-7317-DDB3-CDA1-6A3C79D5FFB5}"/>
                </a:ext>
              </a:extLst>
            </p:cNvPr>
            <p:cNvSpPr/>
            <p:nvPr/>
          </p:nvSpPr>
          <p:spPr>
            <a:xfrm>
              <a:off x="3023802" y="4430218"/>
              <a:ext cx="762699" cy="342865"/>
            </a:xfrm>
            <a:prstGeom prst="round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B9253B9-59BE-0D2C-8491-63835904AFBD}"/>
                </a:ext>
              </a:extLst>
            </p:cNvPr>
            <p:cNvSpPr/>
            <p:nvPr/>
          </p:nvSpPr>
          <p:spPr>
            <a:xfrm>
              <a:off x="2277171" y="1837271"/>
              <a:ext cx="630330" cy="414867"/>
            </a:xfrm>
            <a:prstGeom prst="round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897B4F4-BD4A-1CAE-AD3C-8491177B5E11}"/>
                </a:ext>
              </a:extLst>
            </p:cNvPr>
            <p:cNvSpPr txBox="1"/>
            <p:nvPr/>
          </p:nvSpPr>
          <p:spPr>
            <a:xfrm>
              <a:off x="0" y="6169"/>
              <a:ext cx="6457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MC06: Work Zone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614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30BE-641F-D1A1-E7FF-2147AB4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CWZ Standard </a:t>
            </a:r>
            <a:r>
              <a:rPr lang="en-US" dirty="0" err="1"/>
              <a:t>ConOps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50B0A-3286-2570-9279-3080443A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B4854-95B9-CBFD-ED64-1E8461AE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0" y="6169"/>
            <a:ext cx="645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CWZ </a:t>
            </a:r>
            <a:r>
              <a:rPr lang="en-US" dirty="0" err="1"/>
              <a:t>ConOps</a:t>
            </a:r>
            <a:r>
              <a:rPr lang="en-US" dirty="0"/>
              <a:t> – Work Zone Information Organization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0136F2-AEEB-FB4D-9783-FAC91D97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8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05C741-36EE-9CDD-CB78-0A87930A614F}"/>
              </a:ext>
            </a:extLst>
          </p:cNvPr>
          <p:cNvGrpSpPr/>
          <p:nvPr/>
        </p:nvGrpSpPr>
        <p:grpSpPr>
          <a:xfrm>
            <a:off x="150883" y="798403"/>
            <a:ext cx="3077623" cy="4089601"/>
            <a:chOff x="150883" y="798403"/>
            <a:chExt cx="3077623" cy="408960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79833F1-5224-2FEC-3486-4C667DE9BAD3}"/>
                </a:ext>
              </a:extLst>
            </p:cNvPr>
            <p:cNvSpPr/>
            <p:nvPr/>
          </p:nvSpPr>
          <p:spPr>
            <a:xfrm>
              <a:off x="1296241" y="1326238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Metadata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3E8937F-5DCC-C628-0CEE-56B6D055DCC7}"/>
                </a:ext>
              </a:extLst>
            </p:cNvPr>
            <p:cNvSpPr/>
            <p:nvPr/>
          </p:nvSpPr>
          <p:spPr>
            <a:xfrm>
              <a:off x="1300850" y="2452348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Status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1D4050B-8403-80CA-B67E-B8A8874C71DA}"/>
                </a:ext>
              </a:extLst>
            </p:cNvPr>
            <p:cNvSpPr/>
            <p:nvPr/>
          </p:nvSpPr>
          <p:spPr>
            <a:xfrm>
              <a:off x="1300846" y="2800534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Lanes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43B196E-5AC4-D43E-A361-13D6A3418012}"/>
                </a:ext>
              </a:extLst>
            </p:cNvPr>
            <p:cNvSpPr/>
            <p:nvPr/>
          </p:nvSpPr>
          <p:spPr>
            <a:xfrm>
              <a:off x="1300846" y="3145093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Speed Limit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9D7A04-D10D-1A98-5AB3-8A898F74A431}"/>
                </a:ext>
              </a:extLst>
            </p:cNvPr>
            <p:cNvSpPr/>
            <p:nvPr/>
          </p:nvSpPr>
          <p:spPr>
            <a:xfrm>
              <a:off x="1300858" y="3872494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Device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01DC6DC-1B1D-7066-4B24-DB196218FDB4}"/>
                </a:ext>
              </a:extLst>
            </p:cNvPr>
            <p:cNvSpPr/>
            <p:nvPr/>
          </p:nvSpPr>
          <p:spPr>
            <a:xfrm>
              <a:off x="1300846" y="3509342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Traffic Data</a:t>
              </a:r>
            </a:p>
          </p:txBody>
        </p:sp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67FD7C16-2CC6-2459-D136-C423FC7246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505" y="1463881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2CBD642-B8BD-84E7-B537-4A20850808AC}"/>
                </a:ext>
              </a:extLst>
            </p:cNvPr>
            <p:cNvCxnSpPr>
              <a:cxnSpLocks/>
            </p:cNvCxnSpPr>
            <p:nvPr/>
          </p:nvCxnSpPr>
          <p:spPr>
            <a:xfrm>
              <a:off x="1093818" y="1198717"/>
              <a:ext cx="37298" cy="3545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DE9E7311-6E5A-8022-1656-9190636CC2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517" y="2594601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B940CD74-0DC6-96E8-8A11-A6016D4BD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905" y="2931721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id="{BFC35EE7-95AB-7945-DC24-D2A29F0055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529" y="3287315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79FB2CF3-1D3F-F695-2EEF-B6D6B2684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929" y="4003648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88809A64-A5E0-D162-71A1-000F5A6621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941" y="3634506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F898216-4D27-75B9-4F91-913045CD5057}"/>
                </a:ext>
              </a:extLst>
            </p:cNvPr>
            <p:cNvSpPr/>
            <p:nvPr/>
          </p:nvSpPr>
          <p:spPr>
            <a:xfrm>
              <a:off x="150883" y="798403"/>
              <a:ext cx="1911928" cy="443346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Zone Information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AFE91CE-DA1A-B0D2-5B55-0A03BA22F2FB}"/>
                </a:ext>
              </a:extLst>
            </p:cNvPr>
            <p:cNvSpPr/>
            <p:nvPr/>
          </p:nvSpPr>
          <p:spPr>
            <a:xfrm>
              <a:off x="1296239" y="1696358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Location</a:t>
              </a:r>
            </a:p>
          </p:txBody>
        </p:sp>
        <p:cxnSp>
          <p:nvCxnSpPr>
            <p:cNvPr id="5" name="Connector: Elbow 4">
              <a:extLst>
                <a:ext uri="{FF2B5EF4-FFF2-40B4-BE49-F238E27FC236}">
                  <a16:creationId xmlns:a16="http://schemas.microsoft.com/office/drawing/2014/main" id="{AF2CAA65-323B-617E-A1E2-ACAAACE5B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503" y="1834001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7D8422-9C78-8092-C188-69780C17899C}"/>
                </a:ext>
              </a:extLst>
            </p:cNvPr>
            <p:cNvSpPr/>
            <p:nvPr/>
          </p:nvSpPr>
          <p:spPr>
            <a:xfrm>
              <a:off x="1296235" y="2077360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Schedule</a:t>
              </a:r>
            </a:p>
          </p:txBody>
        </p: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1BE36A77-E1B5-F938-F814-27A7E37E9C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0613" y="2215002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0165671-4855-7E12-6BD1-E59CB74F810D}"/>
                </a:ext>
              </a:extLst>
            </p:cNvPr>
            <p:cNvSpPr/>
            <p:nvPr/>
          </p:nvSpPr>
          <p:spPr>
            <a:xfrm>
              <a:off x="1316578" y="4612720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Work Vehicle Device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CF62BA-4778-6CAE-8E31-3CF59FB12D9E}"/>
                </a:ext>
              </a:extLst>
            </p:cNvPr>
            <p:cNvSpPr/>
            <p:nvPr/>
          </p:nvSpPr>
          <p:spPr>
            <a:xfrm>
              <a:off x="1316566" y="4249568"/>
              <a:ext cx="1911928" cy="27528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Zone VRU Device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5D7F95DD-EF27-198C-36CB-E39852E93E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649" y="4743874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E35D1613-F412-3768-D098-EBC3E438D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661" y="4374732"/>
              <a:ext cx="184736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666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30BE-641F-D1A1-E7FF-2147AB4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WZDX Work Zone Feed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50B0A-3286-2570-9279-3080443A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B4854-95B9-CBFD-ED64-1E8461AE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15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A10709-8BC7-6404-216F-E53685AF46CE}"/>
              </a:ext>
            </a:extLst>
          </p:cNvPr>
          <p:cNvSpPr/>
          <p:nvPr/>
        </p:nvSpPr>
        <p:spPr>
          <a:xfrm>
            <a:off x="3209644" y="141773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road event feed info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F616E-FE54-CEB9-D17B-CCCF01F5B248}"/>
              </a:ext>
            </a:extLst>
          </p:cNvPr>
          <p:cNvSpPr txBox="1"/>
          <p:nvPr/>
        </p:nvSpPr>
        <p:spPr>
          <a:xfrm>
            <a:off x="6493177" y="1054418"/>
            <a:ext cx="1683410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event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related road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road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creation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update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relationship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DD7071-4603-33A7-A010-01DFE7DB19F9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2980946" y="279414"/>
            <a:ext cx="228698" cy="6382325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74C34BF-A0A3-F0BA-D4D0-7BE770E865D2}"/>
              </a:ext>
            </a:extLst>
          </p:cNvPr>
          <p:cNvCxnSpPr>
            <a:cxnSpLocks/>
            <a:stCxn id="32" idx="3"/>
            <a:endCxn id="7" idx="1"/>
          </p:cNvCxnSpPr>
          <p:nvPr/>
        </p:nvCxnSpPr>
        <p:spPr>
          <a:xfrm>
            <a:off x="5994402" y="2023283"/>
            <a:ext cx="498775" cy="631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0" y="6169"/>
            <a:ext cx="2902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WZDX 4.1 – Work Zone Feed Data Structure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A1F2E-58E5-7E82-581A-5E24FFCA4C56}"/>
              </a:ext>
            </a:extLst>
          </p:cNvPr>
          <p:cNvSpPr/>
          <p:nvPr/>
        </p:nvSpPr>
        <p:spPr>
          <a:xfrm>
            <a:off x="3209644" y="486333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feed info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3223504" y="829877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 Collection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3463644" y="1183672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3805376" y="153184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properties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833F1-5224-2FEC-3486-4C667DE9BAD3}"/>
              </a:ext>
            </a:extLst>
          </p:cNvPr>
          <p:cNvSpPr/>
          <p:nvPr/>
        </p:nvSpPr>
        <p:spPr>
          <a:xfrm>
            <a:off x="4082474" y="188564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core details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CA08FC-19A8-EED1-750F-67F64406577A}"/>
              </a:ext>
            </a:extLst>
          </p:cNvPr>
          <p:cNvSpPr/>
          <p:nvPr/>
        </p:nvSpPr>
        <p:spPr>
          <a:xfrm>
            <a:off x="4087083" y="223842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description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E8937F-5DCC-C628-0CEE-56B6D055DCC7}"/>
              </a:ext>
            </a:extLst>
          </p:cNvPr>
          <p:cNvSpPr/>
          <p:nvPr/>
        </p:nvSpPr>
        <p:spPr>
          <a:xfrm>
            <a:off x="4087083" y="2582980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verification status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4050B-8403-80CA-B67E-B8A8874C71DA}"/>
              </a:ext>
            </a:extLst>
          </p:cNvPr>
          <p:cNvSpPr/>
          <p:nvPr/>
        </p:nvSpPr>
        <p:spPr>
          <a:xfrm>
            <a:off x="4087079" y="293116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3B196E-5AC4-D43E-A361-13D6A3418012}"/>
              </a:ext>
            </a:extLst>
          </p:cNvPr>
          <p:cNvSpPr/>
          <p:nvPr/>
        </p:nvSpPr>
        <p:spPr>
          <a:xfrm>
            <a:off x="4087079" y="3275725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vehicle travel impact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0B0EED-714F-B95C-DE7D-BEB60B8D9EC3}"/>
              </a:ext>
            </a:extLst>
          </p:cNvPr>
          <p:cNvSpPr/>
          <p:nvPr/>
        </p:nvSpPr>
        <p:spPr>
          <a:xfrm>
            <a:off x="4091703" y="3619269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method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72A3E8-0B77-5F0E-9431-8B7828FC500F}"/>
              </a:ext>
            </a:extLst>
          </p:cNvPr>
          <p:cNvSpPr/>
          <p:nvPr/>
        </p:nvSpPr>
        <p:spPr>
          <a:xfrm>
            <a:off x="4091703" y="3973064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worked presence status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9D7A04-D10D-1A98-5AB3-8A898F74A431}"/>
              </a:ext>
            </a:extLst>
          </p:cNvPr>
          <p:cNvSpPr/>
          <p:nvPr/>
        </p:nvSpPr>
        <p:spPr>
          <a:xfrm>
            <a:off x="4087091" y="4325862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speed limits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7499AD-BF90-ABE0-2F6D-B9F745CB66B6}"/>
              </a:ext>
            </a:extLst>
          </p:cNvPr>
          <p:cNvSpPr/>
          <p:nvPr/>
        </p:nvSpPr>
        <p:spPr>
          <a:xfrm>
            <a:off x="4087091" y="4673769"/>
            <a:ext cx="1911928" cy="33309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restriction geometry descriptions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1DC6DC-1B1D-7066-4B24-DB196218FDB4}"/>
              </a:ext>
            </a:extLst>
          </p:cNvPr>
          <p:cNvSpPr/>
          <p:nvPr/>
        </p:nvSpPr>
        <p:spPr>
          <a:xfrm>
            <a:off x="4087091" y="5067570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types of work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218467-214E-0447-F485-BFCCB46CD9CE}"/>
              </a:ext>
            </a:extLst>
          </p:cNvPr>
          <p:cNvSpPr/>
          <p:nvPr/>
        </p:nvSpPr>
        <p:spPr>
          <a:xfrm>
            <a:off x="4091703" y="541202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lanes status and description</a:t>
            </a:r>
          </a:p>
        </p:txBody>
      </p:sp>
      <p:cxnSp>
        <p:nvCxnSpPr>
          <p:cNvPr id="50" name="Connector: Elbow 12">
            <a:extLst>
              <a:ext uri="{FF2B5EF4-FFF2-40B4-BE49-F238E27FC236}">
                <a16:creationId xmlns:a16="http://schemas.microsoft.com/office/drawing/2014/main" id="{40275CD9-33FF-2499-8426-82D2A07A57FE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2992581" y="623975"/>
            <a:ext cx="21706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12">
            <a:extLst>
              <a:ext uri="{FF2B5EF4-FFF2-40B4-BE49-F238E27FC236}">
                <a16:creationId xmlns:a16="http://schemas.microsoft.com/office/drawing/2014/main" id="{986A50F5-766D-3E50-3234-8C4CAC2500D6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992581" y="967519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73594" y="1131263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FD7C16-2CC6-2459-D136-C423FC72464E}"/>
              </a:ext>
            </a:extLst>
          </p:cNvPr>
          <p:cNvCxnSpPr>
            <a:cxnSpLocks/>
          </p:cNvCxnSpPr>
          <p:nvPr/>
        </p:nvCxnSpPr>
        <p:spPr>
          <a:xfrm flipV="1">
            <a:off x="3897738" y="2023284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CBD642-B8BD-84E7-B537-4A20850808AC}"/>
              </a:ext>
            </a:extLst>
          </p:cNvPr>
          <p:cNvCxnSpPr>
            <a:cxnSpLocks/>
          </p:cNvCxnSpPr>
          <p:nvPr/>
        </p:nvCxnSpPr>
        <p:spPr>
          <a:xfrm>
            <a:off x="3888499" y="1807130"/>
            <a:ext cx="4620" cy="3780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6692A722-7FB9-2810-951D-7AC24AABFF7F}"/>
              </a:ext>
            </a:extLst>
          </p:cNvPr>
          <p:cNvCxnSpPr>
            <a:cxnSpLocks/>
          </p:cNvCxnSpPr>
          <p:nvPr/>
        </p:nvCxnSpPr>
        <p:spPr>
          <a:xfrm flipV="1">
            <a:off x="3893126" y="237887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DE9E7311-6E5A-8022-1656-9190636CC22A}"/>
              </a:ext>
            </a:extLst>
          </p:cNvPr>
          <p:cNvCxnSpPr>
            <a:cxnSpLocks/>
          </p:cNvCxnSpPr>
          <p:nvPr/>
        </p:nvCxnSpPr>
        <p:spPr>
          <a:xfrm flipV="1">
            <a:off x="3897750" y="272523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B940CD74-0DC6-96E8-8A11-A6016D4BDED6}"/>
              </a:ext>
            </a:extLst>
          </p:cNvPr>
          <p:cNvCxnSpPr>
            <a:cxnSpLocks/>
          </p:cNvCxnSpPr>
          <p:nvPr/>
        </p:nvCxnSpPr>
        <p:spPr>
          <a:xfrm flipV="1">
            <a:off x="3893138" y="306235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BFC35EE7-95AB-7945-DC24-D2A29F0055E2}"/>
              </a:ext>
            </a:extLst>
          </p:cNvPr>
          <p:cNvCxnSpPr>
            <a:cxnSpLocks/>
          </p:cNvCxnSpPr>
          <p:nvPr/>
        </p:nvCxnSpPr>
        <p:spPr>
          <a:xfrm flipV="1">
            <a:off x="3897762" y="341794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18B1DFAF-4E2F-1479-5B2F-81C724919BEB}"/>
              </a:ext>
            </a:extLst>
          </p:cNvPr>
          <p:cNvCxnSpPr>
            <a:cxnSpLocks/>
          </p:cNvCxnSpPr>
          <p:nvPr/>
        </p:nvCxnSpPr>
        <p:spPr>
          <a:xfrm flipV="1">
            <a:off x="3902386" y="376430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4BE50742-A7B5-BFD6-927B-64F5B2199559}"/>
              </a:ext>
            </a:extLst>
          </p:cNvPr>
          <p:cNvCxnSpPr>
            <a:cxnSpLocks/>
          </p:cNvCxnSpPr>
          <p:nvPr/>
        </p:nvCxnSpPr>
        <p:spPr>
          <a:xfrm flipV="1">
            <a:off x="3897774" y="4110660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79FB2CF3-1D3F-F695-2EEF-B6D6B2684EC3}"/>
              </a:ext>
            </a:extLst>
          </p:cNvPr>
          <p:cNvCxnSpPr>
            <a:cxnSpLocks/>
          </p:cNvCxnSpPr>
          <p:nvPr/>
        </p:nvCxnSpPr>
        <p:spPr>
          <a:xfrm flipV="1">
            <a:off x="3893162" y="4457016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F9CF1669-8BC7-624B-A5C1-E92786790C6E}"/>
              </a:ext>
            </a:extLst>
          </p:cNvPr>
          <p:cNvCxnSpPr>
            <a:cxnSpLocks/>
          </p:cNvCxnSpPr>
          <p:nvPr/>
        </p:nvCxnSpPr>
        <p:spPr>
          <a:xfrm flipV="1">
            <a:off x="3897786" y="4840316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88809A64-A5E0-D162-71A1-000F5A66214E}"/>
              </a:ext>
            </a:extLst>
          </p:cNvPr>
          <p:cNvCxnSpPr>
            <a:cxnSpLocks/>
          </p:cNvCxnSpPr>
          <p:nvPr/>
        </p:nvCxnSpPr>
        <p:spPr>
          <a:xfrm flipV="1">
            <a:off x="3893174" y="519590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035C8FF8-27FD-539F-1B2A-520B7A9833E5}"/>
              </a:ext>
            </a:extLst>
          </p:cNvPr>
          <p:cNvCxnSpPr>
            <a:cxnSpLocks/>
          </p:cNvCxnSpPr>
          <p:nvPr/>
        </p:nvCxnSpPr>
        <p:spPr>
          <a:xfrm flipV="1">
            <a:off x="3893119" y="557920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>
            <a:off x="3620625" y="1458956"/>
            <a:ext cx="4643" cy="4836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3625268" y="1658449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A31067-FD87-CD91-77E6-D5B24C5187AF}"/>
              </a:ext>
            </a:extLst>
          </p:cNvPr>
          <p:cNvSpPr/>
          <p:nvPr/>
        </p:nvSpPr>
        <p:spPr>
          <a:xfrm>
            <a:off x="3823809" y="5786080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geometry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A1FF9BD-AB0D-74F9-7537-41F41E402763}"/>
              </a:ext>
            </a:extLst>
          </p:cNvPr>
          <p:cNvCxnSpPr>
            <a:cxnSpLocks/>
          </p:cNvCxnSpPr>
          <p:nvPr/>
        </p:nvCxnSpPr>
        <p:spPr>
          <a:xfrm flipV="1">
            <a:off x="3629905" y="593027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5F73745-9C3B-E153-9981-5CECAFDA1A70}"/>
              </a:ext>
            </a:extLst>
          </p:cNvPr>
          <p:cNvSpPr/>
          <p:nvPr/>
        </p:nvSpPr>
        <p:spPr>
          <a:xfrm>
            <a:off x="6557843" y="5598670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LineString</a:t>
            </a:r>
            <a:endParaRPr lang="en-US" sz="12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3BA973A-D916-0178-1548-6589FD2C6955}"/>
              </a:ext>
            </a:extLst>
          </p:cNvPr>
          <p:cNvSpPr/>
          <p:nvPr/>
        </p:nvSpPr>
        <p:spPr>
          <a:xfrm>
            <a:off x="6562455" y="594312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MultiPoint</a:t>
            </a: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9ABD7773-B52C-FAB6-717D-8221A8FD19F9}"/>
              </a:ext>
            </a:extLst>
          </p:cNvPr>
          <p:cNvCxnSpPr>
            <a:cxnSpLocks/>
          </p:cNvCxnSpPr>
          <p:nvPr/>
        </p:nvCxnSpPr>
        <p:spPr>
          <a:xfrm flipV="1">
            <a:off x="6368431" y="572700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7817C1-77C5-1392-1887-6B58D0C901CA}"/>
              </a:ext>
            </a:extLst>
          </p:cNvPr>
          <p:cNvCxnSpPr>
            <a:cxnSpLocks/>
          </p:cNvCxnSpPr>
          <p:nvPr/>
        </p:nvCxnSpPr>
        <p:spPr>
          <a:xfrm>
            <a:off x="6368431" y="5727008"/>
            <a:ext cx="0" cy="383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1DBC344-976E-199C-A25D-DF7521F6803C}"/>
              </a:ext>
            </a:extLst>
          </p:cNvPr>
          <p:cNvCxnSpPr>
            <a:stCxn id="103" idx="3"/>
          </p:cNvCxnSpPr>
          <p:nvPr/>
        </p:nvCxnSpPr>
        <p:spPr>
          <a:xfrm>
            <a:off x="5735737" y="5923722"/>
            <a:ext cx="623526" cy="7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CC8866D-CCF8-C9C1-3083-AB5137F7C629}"/>
              </a:ext>
            </a:extLst>
          </p:cNvPr>
          <p:cNvSpPr/>
          <p:nvPr/>
        </p:nvSpPr>
        <p:spPr>
          <a:xfrm>
            <a:off x="3837667" y="615091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B30996A-8755-96AA-F5C6-371F27995652}"/>
              </a:ext>
            </a:extLst>
          </p:cNvPr>
          <p:cNvSpPr/>
          <p:nvPr/>
        </p:nvSpPr>
        <p:spPr>
          <a:xfrm>
            <a:off x="3228128" y="652409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cxnSp>
        <p:nvCxnSpPr>
          <p:cNvPr id="129" name="Connector: Elbow 12">
            <a:extLst>
              <a:ext uri="{FF2B5EF4-FFF2-40B4-BE49-F238E27FC236}">
                <a16:creationId xmlns:a16="http://schemas.microsoft.com/office/drawing/2014/main" id="{B2F17F41-48FD-F910-20D1-C69BCE5376AF}"/>
              </a:ext>
            </a:extLst>
          </p:cNvPr>
          <p:cNvCxnSpPr>
            <a:cxnSpLocks/>
            <a:endCxn id="128" idx="1"/>
          </p:cNvCxnSpPr>
          <p:nvPr/>
        </p:nvCxnSpPr>
        <p:spPr>
          <a:xfrm>
            <a:off x="2997205" y="6661740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2B220EF7-9978-64B7-5D83-E6876E0F9B31}"/>
              </a:ext>
            </a:extLst>
          </p:cNvPr>
          <p:cNvCxnSpPr>
            <a:cxnSpLocks/>
          </p:cNvCxnSpPr>
          <p:nvPr/>
        </p:nvCxnSpPr>
        <p:spPr>
          <a:xfrm flipV="1">
            <a:off x="3625293" y="629510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196AB49F-515F-C871-72A6-CE69EA4180B6}"/>
              </a:ext>
            </a:extLst>
          </p:cNvPr>
          <p:cNvCxnSpPr>
            <a:cxnSpLocks/>
          </p:cNvCxnSpPr>
          <p:nvPr/>
        </p:nvCxnSpPr>
        <p:spPr>
          <a:xfrm flipV="1">
            <a:off x="6363819" y="610107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0136F2-AEEB-FB4D-9783-FAC91D97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98216-4D27-75B9-4F91-913045CD5057}"/>
              </a:ext>
            </a:extLst>
          </p:cNvPr>
          <p:cNvSpPr/>
          <p:nvPr/>
        </p:nvSpPr>
        <p:spPr>
          <a:xfrm>
            <a:off x="794271" y="1136140"/>
            <a:ext cx="1911928" cy="44334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 Zone Feed</a:t>
            </a:r>
          </a:p>
        </p:txBody>
      </p:sp>
      <p:cxnSp>
        <p:nvCxnSpPr>
          <p:cNvPr id="6" name="Connector: Elbow 12">
            <a:extLst>
              <a:ext uri="{FF2B5EF4-FFF2-40B4-BE49-F238E27FC236}">
                <a16:creationId xmlns:a16="http://schemas.microsoft.com/office/drawing/2014/main" id="{1FA187D8-B508-4E0D-CC7D-E55DE8790A3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706199" y="1357813"/>
            <a:ext cx="286326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554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30BE-641F-D1A1-E7FF-2147AB4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WZDX Work Zone Device Feed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50B0A-3286-2570-9279-3080443A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B4854-95B9-CBFD-ED64-1E8461AE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8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EB2EA2-DAB4-1352-5A2D-372A7B76C123}"/>
              </a:ext>
            </a:extLst>
          </p:cNvPr>
          <p:cNvSpPr/>
          <p:nvPr/>
        </p:nvSpPr>
        <p:spPr>
          <a:xfrm>
            <a:off x="91971" y="1265399"/>
            <a:ext cx="1911928" cy="44334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 Zone Device Feed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DD7071-4603-33A7-A010-01DFE7DB19F9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2290226" y="522378"/>
            <a:ext cx="217063" cy="6120889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67D454B-B911-4DC1-01C4-43B614994A3B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03899" y="1487072"/>
            <a:ext cx="286326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74C34BF-A0A3-F0BA-D4D0-7BE770E865D2}"/>
              </a:ext>
            </a:extLst>
          </p:cNvPr>
          <p:cNvCxnSpPr>
            <a:cxnSpLocks/>
          </p:cNvCxnSpPr>
          <p:nvPr/>
        </p:nvCxnSpPr>
        <p:spPr>
          <a:xfrm>
            <a:off x="5292046" y="2004295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91971" y="15405"/>
            <a:ext cx="49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WZDX 4.1 – Device Feed Data Structure (1/3)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A1F2E-58E5-7E82-581A-5E24FFCA4C56}"/>
              </a:ext>
            </a:extLst>
          </p:cNvPr>
          <p:cNvSpPr/>
          <p:nvPr/>
        </p:nvSpPr>
        <p:spPr>
          <a:xfrm>
            <a:off x="2507288" y="384737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feed info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2521148" y="72828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 Collection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2761288" y="108207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3103020" y="1430250"/>
            <a:ext cx="1911928" cy="3481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properties </a:t>
            </a:r>
          </a:p>
          <a:p>
            <a:pPr algn="ctr"/>
            <a:r>
              <a:rPr lang="en-US" sz="1200" dirty="0"/>
              <a:t>(varies with device)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833F1-5224-2FEC-3486-4C667DE9BAD3}"/>
              </a:ext>
            </a:extLst>
          </p:cNvPr>
          <p:cNvSpPr/>
          <p:nvPr/>
        </p:nvSpPr>
        <p:spPr>
          <a:xfrm>
            <a:off x="3380118" y="1866653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core details (</a:t>
            </a:r>
            <a:r>
              <a:rPr lang="en-US" sz="1200" dirty="0" err="1"/>
              <a:t>FieldDevice</a:t>
            </a:r>
            <a:r>
              <a:rPr lang="en-US" sz="1200" dirty="0"/>
              <a:t>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CA08FC-19A8-EED1-750F-67F64406577A}"/>
              </a:ext>
            </a:extLst>
          </p:cNvPr>
          <p:cNvSpPr/>
          <p:nvPr/>
        </p:nvSpPr>
        <p:spPr>
          <a:xfrm>
            <a:off x="3384727" y="2246444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(device specific properties)</a:t>
            </a:r>
          </a:p>
        </p:txBody>
      </p:sp>
      <p:cxnSp>
        <p:nvCxnSpPr>
          <p:cNvPr id="54" name="Connector: Elbow 12">
            <a:extLst>
              <a:ext uri="{FF2B5EF4-FFF2-40B4-BE49-F238E27FC236}">
                <a16:creationId xmlns:a16="http://schemas.microsoft.com/office/drawing/2014/main" id="{986A50F5-766D-3E50-3234-8C4CAC2500D6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290225" y="865923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1238" y="1029667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FD7C16-2CC6-2459-D136-C423FC72464E}"/>
              </a:ext>
            </a:extLst>
          </p:cNvPr>
          <p:cNvCxnSpPr>
            <a:cxnSpLocks/>
          </p:cNvCxnSpPr>
          <p:nvPr/>
        </p:nvCxnSpPr>
        <p:spPr>
          <a:xfrm flipV="1">
            <a:off x="3195382" y="200481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CBD642-B8BD-84E7-B537-4A20850808AC}"/>
              </a:ext>
            </a:extLst>
          </p:cNvPr>
          <p:cNvCxnSpPr>
            <a:cxnSpLocks/>
          </p:cNvCxnSpPr>
          <p:nvPr/>
        </p:nvCxnSpPr>
        <p:spPr>
          <a:xfrm>
            <a:off x="3186143" y="1788658"/>
            <a:ext cx="9239" cy="607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6692A722-7FB9-2810-951D-7AC24AABFF7F}"/>
              </a:ext>
            </a:extLst>
          </p:cNvPr>
          <p:cNvCxnSpPr>
            <a:cxnSpLocks/>
          </p:cNvCxnSpPr>
          <p:nvPr/>
        </p:nvCxnSpPr>
        <p:spPr>
          <a:xfrm flipV="1">
            <a:off x="3190770" y="2386900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>
            <a:off x="2918269" y="1357360"/>
            <a:ext cx="4643" cy="4919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2922912" y="155685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A31067-FD87-CD91-77E6-D5B24C5187AF}"/>
              </a:ext>
            </a:extLst>
          </p:cNvPr>
          <p:cNvSpPr/>
          <p:nvPr/>
        </p:nvSpPr>
        <p:spPr>
          <a:xfrm>
            <a:off x="3121453" y="576760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geometry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A1FF9BD-AB0D-74F9-7537-41F41E402763}"/>
              </a:ext>
            </a:extLst>
          </p:cNvPr>
          <p:cNvCxnSpPr>
            <a:cxnSpLocks/>
          </p:cNvCxnSpPr>
          <p:nvPr/>
        </p:nvCxnSpPr>
        <p:spPr>
          <a:xfrm flipV="1">
            <a:off x="2927549" y="591180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CC8866D-CCF8-C9C1-3083-AB5137F7C629}"/>
              </a:ext>
            </a:extLst>
          </p:cNvPr>
          <p:cNvSpPr/>
          <p:nvPr/>
        </p:nvSpPr>
        <p:spPr>
          <a:xfrm>
            <a:off x="3135311" y="6132444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B30996A-8755-96AA-F5C6-371F27995652}"/>
              </a:ext>
            </a:extLst>
          </p:cNvPr>
          <p:cNvSpPr/>
          <p:nvPr/>
        </p:nvSpPr>
        <p:spPr>
          <a:xfrm>
            <a:off x="2525772" y="650562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cxnSp>
        <p:nvCxnSpPr>
          <p:cNvPr id="129" name="Connector: Elbow 12">
            <a:extLst>
              <a:ext uri="{FF2B5EF4-FFF2-40B4-BE49-F238E27FC236}">
                <a16:creationId xmlns:a16="http://schemas.microsoft.com/office/drawing/2014/main" id="{B2F17F41-48FD-F910-20D1-C69BCE5376AF}"/>
              </a:ext>
            </a:extLst>
          </p:cNvPr>
          <p:cNvCxnSpPr>
            <a:cxnSpLocks/>
            <a:endCxn id="128" idx="1"/>
          </p:cNvCxnSpPr>
          <p:nvPr/>
        </p:nvCxnSpPr>
        <p:spPr>
          <a:xfrm>
            <a:off x="2294849" y="6643268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2B220EF7-9978-64B7-5D83-E6876E0F9B31}"/>
              </a:ext>
            </a:extLst>
          </p:cNvPr>
          <p:cNvCxnSpPr>
            <a:cxnSpLocks/>
          </p:cNvCxnSpPr>
          <p:nvPr/>
        </p:nvCxnSpPr>
        <p:spPr>
          <a:xfrm flipV="1">
            <a:off x="2922937" y="627663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252EE85-9727-FFED-BD95-1010C7A15F66}"/>
              </a:ext>
            </a:extLst>
          </p:cNvPr>
          <p:cNvSpPr txBox="1"/>
          <p:nvPr/>
        </p:nvSpPr>
        <p:spPr>
          <a:xfrm>
            <a:off x="5674484" y="1864715"/>
            <a:ext cx="1894301" cy="32316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device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device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update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has automatic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road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road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name (of device)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status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is moving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road event 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milepost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serial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firmware version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AC9A86B8-C9DF-2E0F-C0B4-D44899EA6E36}"/>
              </a:ext>
            </a:extLst>
          </p:cNvPr>
          <p:cNvCxnSpPr>
            <a:cxnSpLocks/>
            <a:endCxn id="63" idx="1"/>
          </p:cNvCxnSpPr>
          <p:nvPr/>
        </p:nvCxnSpPr>
        <p:spPr>
          <a:xfrm flipV="1">
            <a:off x="5014948" y="1584629"/>
            <a:ext cx="648590" cy="45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A8F46C9-41EA-E02C-BBDD-7EB7FECD6F6B}"/>
              </a:ext>
            </a:extLst>
          </p:cNvPr>
          <p:cNvSpPr txBox="1"/>
          <p:nvPr/>
        </p:nvSpPr>
        <p:spPr>
          <a:xfrm>
            <a:off x="5663538" y="1446129"/>
            <a:ext cx="58862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857177-C418-689D-C711-B6F160CE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05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DD7071-4603-33A7-A010-01DFE7DB19F9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2276312" y="522378"/>
            <a:ext cx="230977" cy="6120889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74C34BF-A0A3-F0BA-D4D0-7BE770E865D2}"/>
              </a:ext>
            </a:extLst>
          </p:cNvPr>
          <p:cNvCxnSpPr>
            <a:cxnSpLocks/>
          </p:cNvCxnSpPr>
          <p:nvPr/>
        </p:nvCxnSpPr>
        <p:spPr>
          <a:xfrm>
            <a:off x="5292046" y="2402371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91969" y="6169"/>
            <a:ext cx="8960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WZDX 4.1 – Device Feed Data Structure (2/3: Arrow Board, Camera, Dynamic Message Sign, Flashing Beacon)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A1F2E-58E5-7E82-581A-5E24FFCA4C56}"/>
              </a:ext>
            </a:extLst>
          </p:cNvPr>
          <p:cNvSpPr/>
          <p:nvPr/>
        </p:nvSpPr>
        <p:spPr>
          <a:xfrm>
            <a:off x="2507288" y="384737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feed info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2521148" y="72828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 Collection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2761288" y="108207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3103020" y="1430250"/>
            <a:ext cx="1911928" cy="3481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properties </a:t>
            </a:r>
          </a:p>
          <a:p>
            <a:pPr algn="ctr"/>
            <a:r>
              <a:rPr lang="en-US" sz="1200" dirty="0"/>
              <a:t>(varies with device)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833F1-5224-2FEC-3486-4C667DE9BAD3}"/>
              </a:ext>
            </a:extLst>
          </p:cNvPr>
          <p:cNvSpPr/>
          <p:nvPr/>
        </p:nvSpPr>
        <p:spPr>
          <a:xfrm>
            <a:off x="3380118" y="1867169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core details (</a:t>
            </a:r>
            <a:r>
              <a:rPr lang="en-US" sz="1200" dirty="0" err="1"/>
              <a:t>FieldDevice</a:t>
            </a:r>
            <a:r>
              <a:rPr lang="en-US" sz="1200" dirty="0"/>
              <a:t>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CA08FC-19A8-EED1-750F-67F64406577A}"/>
              </a:ext>
            </a:extLst>
          </p:cNvPr>
          <p:cNvSpPr/>
          <p:nvPr/>
        </p:nvSpPr>
        <p:spPr>
          <a:xfrm>
            <a:off x="3384727" y="2250167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Arrow Board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E8937F-5DCC-C628-0CEE-56B6D055DCC7}"/>
              </a:ext>
            </a:extLst>
          </p:cNvPr>
          <p:cNvSpPr/>
          <p:nvPr/>
        </p:nvSpPr>
        <p:spPr>
          <a:xfrm>
            <a:off x="3384727" y="2829537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Camera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4050B-8403-80CA-B67E-B8A8874C71DA}"/>
              </a:ext>
            </a:extLst>
          </p:cNvPr>
          <p:cNvSpPr/>
          <p:nvPr/>
        </p:nvSpPr>
        <p:spPr>
          <a:xfrm>
            <a:off x="3384723" y="332350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Dynamic Message Sign</a:t>
            </a:r>
          </a:p>
        </p:txBody>
      </p:sp>
      <p:cxnSp>
        <p:nvCxnSpPr>
          <p:cNvPr id="54" name="Connector: Elbow 12">
            <a:extLst>
              <a:ext uri="{FF2B5EF4-FFF2-40B4-BE49-F238E27FC236}">
                <a16:creationId xmlns:a16="http://schemas.microsoft.com/office/drawing/2014/main" id="{986A50F5-766D-3E50-3234-8C4CAC2500D6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290225" y="865923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1238" y="1029667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FD7C16-2CC6-2459-D136-C423FC72464E}"/>
              </a:ext>
            </a:extLst>
          </p:cNvPr>
          <p:cNvCxnSpPr>
            <a:cxnSpLocks/>
          </p:cNvCxnSpPr>
          <p:nvPr/>
        </p:nvCxnSpPr>
        <p:spPr>
          <a:xfrm flipV="1">
            <a:off x="3195382" y="200481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CBD642-B8BD-84E7-B537-4A20850808AC}"/>
              </a:ext>
            </a:extLst>
          </p:cNvPr>
          <p:cNvCxnSpPr>
            <a:cxnSpLocks/>
          </p:cNvCxnSpPr>
          <p:nvPr/>
        </p:nvCxnSpPr>
        <p:spPr>
          <a:xfrm>
            <a:off x="3183838" y="1789344"/>
            <a:ext cx="9228" cy="2248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6692A722-7FB9-2810-951D-7AC24AABFF7F}"/>
              </a:ext>
            </a:extLst>
          </p:cNvPr>
          <p:cNvCxnSpPr>
            <a:cxnSpLocks/>
          </p:cNvCxnSpPr>
          <p:nvPr/>
        </p:nvCxnSpPr>
        <p:spPr>
          <a:xfrm flipV="1">
            <a:off x="3190782" y="2386894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DE9E7311-6E5A-8022-1656-9190636CC22A}"/>
              </a:ext>
            </a:extLst>
          </p:cNvPr>
          <p:cNvCxnSpPr>
            <a:cxnSpLocks/>
          </p:cNvCxnSpPr>
          <p:nvPr/>
        </p:nvCxnSpPr>
        <p:spPr>
          <a:xfrm flipV="1">
            <a:off x="3195394" y="2971790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B940CD74-0DC6-96E8-8A11-A6016D4BDED6}"/>
              </a:ext>
            </a:extLst>
          </p:cNvPr>
          <p:cNvCxnSpPr>
            <a:cxnSpLocks/>
          </p:cNvCxnSpPr>
          <p:nvPr/>
        </p:nvCxnSpPr>
        <p:spPr>
          <a:xfrm flipV="1">
            <a:off x="3190782" y="345469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>
            <a:off x="2918269" y="1357360"/>
            <a:ext cx="20732" cy="4948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2922912" y="155685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A31067-FD87-CD91-77E6-D5B24C5187AF}"/>
              </a:ext>
            </a:extLst>
          </p:cNvPr>
          <p:cNvSpPr/>
          <p:nvPr/>
        </p:nvSpPr>
        <p:spPr>
          <a:xfrm>
            <a:off x="3121453" y="576760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geometry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A1FF9BD-AB0D-74F9-7537-41F41E402763}"/>
              </a:ext>
            </a:extLst>
          </p:cNvPr>
          <p:cNvCxnSpPr>
            <a:cxnSpLocks/>
          </p:cNvCxnSpPr>
          <p:nvPr/>
        </p:nvCxnSpPr>
        <p:spPr>
          <a:xfrm flipV="1">
            <a:off x="2927549" y="591180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CC8866D-CCF8-C9C1-3083-AB5137F7C629}"/>
              </a:ext>
            </a:extLst>
          </p:cNvPr>
          <p:cNvSpPr/>
          <p:nvPr/>
        </p:nvSpPr>
        <p:spPr>
          <a:xfrm>
            <a:off x="3135311" y="6132444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B30996A-8755-96AA-F5C6-371F27995652}"/>
              </a:ext>
            </a:extLst>
          </p:cNvPr>
          <p:cNvSpPr/>
          <p:nvPr/>
        </p:nvSpPr>
        <p:spPr>
          <a:xfrm>
            <a:off x="2525772" y="650562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cxnSp>
        <p:nvCxnSpPr>
          <p:cNvPr id="129" name="Connector: Elbow 12">
            <a:extLst>
              <a:ext uri="{FF2B5EF4-FFF2-40B4-BE49-F238E27FC236}">
                <a16:creationId xmlns:a16="http://schemas.microsoft.com/office/drawing/2014/main" id="{B2F17F41-48FD-F910-20D1-C69BCE5376AF}"/>
              </a:ext>
            </a:extLst>
          </p:cNvPr>
          <p:cNvCxnSpPr>
            <a:cxnSpLocks/>
            <a:endCxn id="128" idx="1"/>
          </p:cNvCxnSpPr>
          <p:nvPr/>
        </p:nvCxnSpPr>
        <p:spPr>
          <a:xfrm>
            <a:off x="2294849" y="6643268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2B220EF7-9978-64B7-5D83-E6876E0F9B31}"/>
              </a:ext>
            </a:extLst>
          </p:cNvPr>
          <p:cNvCxnSpPr>
            <a:cxnSpLocks/>
          </p:cNvCxnSpPr>
          <p:nvPr/>
        </p:nvCxnSpPr>
        <p:spPr>
          <a:xfrm flipV="1">
            <a:off x="2922937" y="627663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252EE85-9727-FFED-BD95-1010C7A15F66}"/>
              </a:ext>
            </a:extLst>
          </p:cNvPr>
          <p:cNvSpPr txBox="1"/>
          <p:nvPr/>
        </p:nvSpPr>
        <p:spPr>
          <a:xfrm>
            <a:off x="5666075" y="2179937"/>
            <a:ext cx="200413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is_in_transport_position</a:t>
            </a:r>
            <a:endParaRPr lang="en-US" sz="1200" dirty="0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C2B6B04-2665-FFD2-D981-397CF96AAD16}"/>
              </a:ext>
            </a:extLst>
          </p:cNvPr>
          <p:cNvCxnSpPr>
            <a:cxnSpLocks/>
          </p:cNvCxnSpPr>
          <p:nvPr/>
        </p:nvCxnSpPr>
        <p:spPr>
          <a:xfrm>
            <a:off x="5285422" y="2978839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B3312F0-2254-7BE4-C494-2D5B59AA05C1}"/>
              </a:ext>
            </a:extLst>
          </p:cNvPr>
          <p:cNvSpPr txBox="1"/>
          <p:nvPr/>
        </p:nvSpPr>
        <p:spPr>
          <a:xfrm>
            <a:off x="5659451" y="2756405"/>
            <a:ext cx="200413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image_url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image_timestamp</a:t>
            </a:r>
            <a:endParaRPr lang="en-US" sz="1200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D409B20-ACAB-3085-A5E0-D0E1A8F88CC5}"/>
              </a:ext>
            </a:extLst>
          </p:cNvPr>
          <p:cNvCxnSpPr>
            <a:cxnSpLocks/>
          </p:cNvCxnSpPr>
          <p:nvPr/>
        </p:nvCxnSpPr>
        <p:spPr>
          <a:xfrm>
            <a:off x="5292050" y="3489043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4535B9-4160-E8BB-F28C-566828B17248}"/>
              </a:ext>
            </a:extLst>
          </p:cNvPr>
          <p:cNvSpPr txBox="1"/>
          <p:nvPr/>
        </p:nvSpPr>
        <p:spPr>
          <a:xfrm>
            <a:off x="5666079" y="3346121"/>
            <a:ext cx="2004138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message_multi</a:t>
            </a:r>
            <a:r>
              <a:rPr lang="en-US" sz="1200" dirty="0"/>
              <a:t>-string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DA9EA8-2BAB-366E-F4D4-21B0D7831A3F}"/>
              </a:ext>
            </a:extLst>
          </p:cNvPr>
          <p:cNvSpPr/>
          <p:nvPr/>
        </p:nvSpPr>
        <p:spPr>
          <a:xfrm>
            <a:off x="3391351" y="3899970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Flashing Beacon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34F15A9-1F57-38BE-FC35-C9A982ADCAD2}"/>
              </a:ext>
            </a:extLst>
          </p:cNvPr>
          <p:cNvCxnSpPr>
            <a:cxnSpLocks/>
          </p:cNvCxnSpPr>
          <p:nvPr/>
        </p:nvCxnSpPr>
        <p:spPr>
          <a:xfrm flipV="1">
            <a:off x="3197410" y="403115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EE5A0C9-3880-413B-402A-6179E457CDE1}"/>
              </a:ext>
            </a:extLst>
          </p:cNvPr>
          <p:cNvCxnSpPr>
            <a:cxnSpLocks/>
          </p:cNvCxnSpPr>
          <p:nvPr/>
        </p:nvCxnSpPr>
        <p:spPr>
          <a:xfrm>
            <a:off x="5298678" y="4065507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81A6E-0147-A190-9655-74EC6E88B6BE}"/>
              </a:ext>
            </a:extLst>
          </p:cNvPr>
          <p:cNvSpPr txBox="1"/>
          <p:nvPr/>
        </p:nvSpPr>
        <p:spPr>
          <a:xfrm>
            <a:off x="5672707" y="3763561"/>
            <a:ext cx="200413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is_flashing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sign_text</a:t>
            </a:r>
            <a:endParaRPr lang="en-US" sz="120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DE48CAF-E98B-299F-DD22-F0EF60AEEFF6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5014948" y="1584629"/>
            <a:ext cx="648590" cy="45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5D44077-AFD7-B304-36B0-55B91122B34C}"/>
              </a:ext>
            </a:extLst>
          </p:cNvPr>
          <p:cNvSpPr txBox="1"/>
          <p:nvPr/>
        </p:nvSpPr>
        <p:spPr>
          <a:xfrm>
            <a:off x="5663538" y="1446129"/>
            <a:ext cx="58862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A2B391-DEAF-E32D-2D32-E6314677A67B}"/>
              </a:ext>
            </a:extLst>
          </p:cNvPr>
          <p:cNvSpPr/>
          <p:nvPr/>
        </p:nvSpPr>
        <p:spPr>
          <a:xfrm>
            <a:off x="3384723" y="2252355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Arrow 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896450-8CA1-6AC4-270C-BD7A695E55D8}"/>
              </a:ext>
            </a:extLst>
          </p:cNvPr>
          <p:cNvSpPr/>
          <p:nvPr/>
        </p:nvSpPr>
        <p:spPr>
          <a:xfrm>
            <a:off x="3384723" y="2831725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Camera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40F94-3159-24F9-AE29-B2632F286F81}"/>
              </a:ext>
            </a:extLst>
          </p:cNvPr>
          <p:cNvSpPr/>
          <p:nvPr/>
        </p:nvSpPr>
        <p:spPr>
          <a:xfrm>
            <a:off x="3386750" y="3323506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Dynamic Message 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23D6F-6FED-E428-42CF-BECFA47DD337}"/>
              </a:ext>
            </a:extLst>
          </p:cNvPr>
          <p:cNvSpPr/>
          <p:nvPr/>
        </p:nvSpPr>
        <p:spPr>
          <a:xfrm>
            <a:off x="3386750" y="2252355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Arrow Board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E42451-4369-77F1-FBA1-BCB61B5412FB}"/>
              </a:ext>
            </a:extLst>
          </p:cNvPr>
          <p:cNvSpPr/>
          <p:nvPr/>
        </p:nvSpPr>
        <p:spPr>
          <a:xfrm>
            <a:off x="3386750" y="2831725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Camera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5DB8C6F-9464-ADD4-E065-88E7D125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13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2CE257-1A52-37A7-F126-EFCF1D7EEF1D}"/>
              </a:ext>
            </a:extLst>
          </p:cNvPr>
          <p:cNvSpPr/>
          <p:nvPr/>
        </p:nvSpPr>
        <p:spPr>
          <a:xfrm>
            <a:off x="91970" y="1199332"/>
            <a:ext cx="1911928" cy="44334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 Zone Device Feed</a:t>
            </a:r>
          </a:p>
        </p:txBody>
      </p:sp>
      <p:cxnSp>
        <p:nvCxnSpPr>
          <p:cNvPr id="25" name="Connector: Elbow 12">
            <a:extLst>
              <a:ext uri="{FF2B5EF4-FFF2-40B4-BE49-F238E27FC236}">
                <a16:creationId xmlns:a16="http://schemas.microsoft.com/office/drawing/2014/main" id="{4D0F915E-C717-30C1-2A76-3261DCAB693A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003898" y="1421005"/>
            <a:ext cx="286326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574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D2C9B3F-A7BF-590A-A70C-AA7C117DC94F}"/>
              </a:ext>
            </a:extLst>
          </p:cNvPr>
          <p:cNvCxnSpPr>
            <a:cxnSpLocks/>
          </p:cNvCxnSpPr>
          <p:nvPr/>
        </p:nvCxnSpPr>
        <p:spPr>
          <a:xfrm>
            <a:off x="5444446" y="5166680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6EB2EA2-DAB4-1352-5A2D-372A7B76C123}"/>
              </a:ext>
            </a:extLst>
          </p:cNvPr>
          <p:cNvSpPr/>
          <p:nvPr/>
        </p:nvSpPr>
        <p:spPr>
          <a:xfrm>
            <a:off x="91971" y="1219214"/>
            <a:ext cx="1911928" cy="44334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 Zone Device Feed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DD7071-4603-33A7-A010-01DFE7DB19F9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2292538" y="522378"/>
            <a:ext cx="214751" cy="6120889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67D454B-B911-4DC1-01C4-43B614994A3B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03899" y="1440887"/>
            <a:ext cx="286326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74C34BF-A0A3-F0BA-D4D0-7BE770E865D2}"/>
              </a:ext>
            </a:extLst>
          </p:cNvPr>
          <p:cNvCxnSpPr>
            <a:cxnSpLocks/>
          </p:cNvCxnSpPr>
          <p:nvPr/>
        </p:nvCxnSpPr>
        <p:spPr>
          <a:xfrm>
            <a:off x="5292046" y="2402371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82735" y="15405"/>
            <a:ext cx="8765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WZDX 4.1 – Device Feed Data Structure (3/3: Hybrid Sign, Location Marker, Traffic Sensor)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A1F2E-58E5-7E82-581A-5E24FFCA4C56}"/>
              </a:ext>
            </a:extLst>
          </p:cNvPr>
          <p:cNvSpPr/>
          <p:nvPr/>
        </p:nvSpPr>
        <p:spPr>
          <a:xfrm>
            <a:off x="2507288" y="384737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feed info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2521148" y="72828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 Collection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2761288" y="108207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3103020" y="1430250"/>
            <a:ext cx="1911928" cy="3481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properties </a:t>
            </a:r>
          </a:p>
          <a:p>
            <a:pPr algn="ctr"/>
            <a:r>
              <a:rPr lang="en-US" sz="1200" dirty="0"/>
              <a:t>(varies with device)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833F1-5224-2FEC-3486-4C667DE9BAD3}"/>
              </a:ext>
            </a:extLst>
          </p:cNvPr>
          <p:cNvSpPr/>
          <p:nvPr/>
        </p:nvSpPr>
        <p:spPr>
          <a:xfrm>
            <a:off x="3380118" y="1867169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core details (</a:t>
            </a:r>
            <a:r>
              <a:rPr lang="en-US" sz="1200" dirty="0" err="1"/>
              <a:t>FieldDevice</a:t>
            </a:r>
            <a:r>
              <a:rPr lang="en-US" sz="1200" dirty="0"/>
              <a:t>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CA08FC-19A8-EED1-750F-67F64406577A}"/>
              </a:ext>
            </a:extLst>
          </p:cNvPr>
          <p:cNvSpPr/>
          <p:nvPr/>
        </p:nvSpPr>
        <p:spPr>
          <a:xfrm>
            <a:off x="3384727" y="2259692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Hybrid Sign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E8937F-5DCC-C628-0CEE-56B6D055DCC7}"/>
              </a:ext>
            </a:extLst>
          </p:cNvPr>
          <p:cNvSpPr/>
          <p:nvPr/>
        </p:nvSpPr>
        <p:spPr>
          <a:xfrm>
            <a:off x="3384727" y="298856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Marker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4050B-8403-80CA-B67E-B8A8874C71DA}"/>
              </a:ext>
            </a:extLst>
          </p:cNvPr>
          <p:cNvSpPr/>
          <p:nvPr/>
        </p:nvSpPr>
        <p:spPr>
          <a:xfrm>
            <a:off x="3384723" y="3734318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Traffic Sensor</a:t>
            </a:r>
          </a:p>
        </p:txBody>
      </p:sp>
      <p:cxnSp>
        <p:nvCxnSpPr>
          <p:cNvPr id="54" name="Connector: Elbow 12">
            <a:extLst>
              <a:ext uri="{FF2B5EF4-FFF2-40B4-BE49-F238E27FC236}">
                <a16:creationId xmlns:a16="http://schemas.microsoft.com/office/drawing/2014/main" id="{986A50F5-766D-3E50-3234-8C4CAC2500D6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290225" y="865923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1238" y="1029667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FD7C16-2CC6-2459-D136-C423FC72464E}"/>
              </a:ext>
            </a:extLst>
          </p:cNvPr>
          <p:cNvCxnSpPr>
            <a:cxnSpLocks/>
          </p:cNvCxnSpPr>
          <p:nvPr/>
        </p:nvCxnSpPr>
        <p:spPr>
          <a:xfrm flipV="1">
            <a:off x="3195382" y="200481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CBD642-B8BD-84E7-B537-4A20850808AC}"/>
              </a:ext>
            </a:extLst>
          </p:cNvPr>
          <p:cNvCxnSpPr>
            <a:cxnSpLocks/>
          </p:cNvCxnSpPr>
          <p:nvPr/>
        </p:nvCxnSpPr>
        <p:spPr>
          <a:xfrm>
            <a:off x="3186143" y="1788658"/>
            <a:ext cx="6927" cy="2103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6692A722-7FB9-2810-951D-7AC24AABFF7F}"/>
              </a:ext>
            </a:extLst>
          </p:cNvPr>
          <p:cNvCxnSpPr>
            <a:cxnSpLocks/>
          </p:cNvCxnSpPr>
          <p:nvPr/>
        </p:nvCxnSpPr>
        <p:spPr>
          <a:xfrm flipV="1">
            <a:off x="3190782" y="2386894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DE9E7311-6E5A-8022-1656-9190636CC22A}"/>
              </a:ext>
            </a:extLst>
          </p:cNvPr>
          <p:cNvCxnSpPr>
            <a:cxnSpLocks/>
          </p:cNvCxnSpPr>
          <p:nvPr/>
        </p:nvCxnSpPr>
        <p:spPr>
          <a:xfrm flipV="1">
            <a:off x="3195394" y="3130814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B940CD74-0DC6-96E8-8A11-A6016D4BDED6}"/>
              </a:ext>
            </a:extLst>
          </p:cNvPr>
          <p:cNvCxnSpPr>
            <a:cxnSpLocks/>
          </p:cNvCxnSpPr>
          <p:nvPr/>
        </p:nvCxnSpPr>
        <p:spPr>
          <a:xfrm flipV="1">
            <a:off x="3190782" y="386550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 flipH="1">
            <a:off x="2911363" y="1357360"/>
            <a:ext cx="6906" cy="4932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2922912" y="155685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A31067-FD87-CD91-77E6-D5B24C5187AF}"/>
              </a:ext>
            </a:extLst>
          </p:cNvPr>
          <p:cNvSpPr/>
          <p:nvPr/>
        </p:nvSpPr>
        <p:spPr>
          <a:xfrm>
            <a:off x="3121453" y="576760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geometry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A1FF9BD-AB0D-74F9-7537-41F41E402763}"/>
              </a:ext>
            </a:extLst>
          </p:cNvPr>
          <p:cNvCxnSpPr>
            <a:cxnSpLocks/>
          </p:cNvCxnSpPr>
          <p:nvPr/>
        </p:nvCxnSpPr>
        <p:spPr>
          <a:xfrm flipV="1">
            <a:off x="2927549" y="591180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CC8866D-CCF8-C9C1-3083-AB5137F7C629}"/>
              </a:ext>
            </a:extLst>
          </p:cNvPr>
          <p:cNvSpPr/>
          <p:nvPr/>
        </p:nvSpPr>
        <p:spPr>
          <a:xfrm>
            <a:off x="3135311" y="6132444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B30996A-8755-96AA-F5C6-371F27995652}"/>
              </a:ext>
            </a:extLst>
          </p:cNvPr>
          <p:cNvSpPr/>
          <p:nvPr/>
        </p:nvSpPr>
        <p:spPr>
          <a:xfrm>
            <a:off x="2525772" y="650562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bbox</a:t>
            </a:r>
            <a:endParaRPr lang="en-US" sz="1200" dirty="0"/>
          </a:p>
        </p:txBody>
      </p:sp>
      <p:cxnSp>
        <p:nvCxnSpPr>
          <p:cNvPr id="129" name="Connector: Elbow 12">
            <a:extLst>
              <a:ext uri="{FF2B5EF4-FFF2-40B4-BE49-F238E27FC236}">
                <a16:creationId xmlns:a16="http://schemas.microsoft.com/office/drawing/2014/main" id="{B2F17F41-48FD-F910-20D1-C69BCE5376AF}"/>
              </a:ext>
            </a:extLst>
          </p:cNvPr>
          <p:cNvCxnSpPr>
            <a:cxnSpLocks/>
            <a:endCxn id="128" idx="1"/>
          </p:cNvCxnSpPr>
          <p:nvPr/>
        </p:nvCxnSpPr>
        <p:spPr>
          <a:xfrm>
            <a:off x="2294849" y="6643268"/>
            <a:ext cx="23092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2B220EF7-9978-64B7-5D83-E6876E0F9B31}"/>
              </a:ext>
            </a:extLst>
          </p:cNvPr>
          <p:cNvCxnSpPr>
            <a:cxnSpLocks/>
          </p:cNvCxnSpPr>
          <p:nvPr/>
        </p:nvCxnSpPr>
        <p:spPr>
          <a:xfrm flipV="1">
            <a:off x="2922937" y="627663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C2B6B04-2665-FFD2-D981-397CF96AAD16}"/>
              </a:ext>
            </a:extLst>
          </p:cNvPr>
          <p:cNvCxnSpPr>
            <a:cxnSpLocks/>
          </p:cNvCxnSpPr>
          <p:nvPr/>
        </p:nvCxnSpPr>
        <p:spPr>
          <a:xfrm>
            <a:off x="5285422" y="3137863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B3312F0-2254-7BE4-C494-2D5B59AA05C1}"/>
              </a:ext>
            </a:extLst>
          </p:cNvPr>
          <p:cNvSpPr txBox="1"/>
          <p:nvPr/>
        </p:nvSpPr>
        <p:spPr>
          <a:xfrm>
            <a:off x="5659450" y="2915429"/>
            <a:ext cx="222582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marked_locations</a:t>
            </a:r>
            <a:r>
              <a:rPr lang="en-US" sz="1200" dirty="0"/>
              <a:t> * (array)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road_event_id</a:t>
            </a:r>
            <a:endParaRPr lang="en-US" sz="1200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D409B20-ACAB-3085-A5E0-D0E1A8F88CC5}"/>
              </a:ext>
            </a:extLst>
          </p:cNvPr>
          <p:cNvCxnSpPr>
            <a:cxnSpLocks/>
          </p:cNvCxnSpPr>
          <p:nvPr/>
        </p:nvCxnSpPr>
        <p:spPr>
          <a:xfrm>
            <a:off x="5292046" y="3899855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4535B9-4160-E8BB-F28C-566828B17248}"/>
              </a:ext>
            </a:extLst>
          </p:cNvPr>
          <p:cNvSpPr txBox="1"/>
          <p:nvPr/>
        </p:nvSpPr>
        <p:spPr>
          <a:xfrm>
            <a:off x="5663538" y="3666337"/>
            <a:ext cx="251305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collection_interval_start_date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collection_interval_end_date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average_speed_kph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volume_vph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occupancy_percent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lane_data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24D76B-5018-827E-EFDD-00D103DCF885}"/>
              </a:ext>
            </a:extLst>
          </p:cNvPr>
          <p:cNvSpPr txBox="1"/>
          <p:nvPr/>
        </p:nvSpPr>
        <p:spPr>
          <a:xfrm>
            <a:off x="207541" y="2619010"/>
            <a:ext cx="2004138" cy="24929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afad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delineator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flagger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lane-shift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lane-closure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personal-device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temporary-traffic-signal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ramp-closure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road-closure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road-event-start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road-event-end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work-zone-start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work-zone-end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353106-E6E5-B7D0-5823-083C040E0BBB}"/>
              </a:ext>
            </a:extLst>
          </p:cNvPr>
          <p:cNvSpPr/>
          <p:nvPr/>
        </p:nvSpPr>
        <p:spPr>
          <a:xfrm>
            <a:off x="212001" y="2342412"/>
            <a:ext cx="1999678" cy="27658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marked_locations</a:t>
            </a:r>
            <a:r>
              <a:rPr lang="en-US" sz="1200" dirty="0"/>
              <a:t> type *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8EA9C5-EA63-D2E7-AB2D-7C88CB869D22}"/>
              </a:ext>
            </a:extLst>
          </p:cNvPr>
          <p:cNvSpPr/>
          <p:nvPr/>
        </p:nvSpPr>
        <p:spPr>
          <a:xfrm>
            <a:off x="3655810" y="5011352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Traffic Sensor Lane Data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A1D4720-404D-1CB0-BB83-00E890FA8F76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3000668" y="4493852"/>
            <a:ext cx="1131586" cy="17869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47B48C5-CB88-4324-C98E-50B2F1793B8A}"/>
              </a:ext>
            </a:extLst>
          </p:cNvPr>
          <p:cNvSpPr txBox="1"/>
          <p:nvPr/>
        </p:nvSpPr>
        <p:spPr>
          <a:xfrm>
            <a:off x="5815938" y="4992793"/>
            <a:ext cx="251305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lane_order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road_event_id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average_speed_kph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volume_vph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occupancy_percent</a:t>
            </a:r>
            <a:endParaRPr lang="en-US" sz="12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172E9D4-C85E-6805-FCE4-4B706F5BA8CB}"/>
              </a:ext>
            </a:extLst>
          </p:cNvPr>
          <p:cNvCxnSpPr>
            <a:cxnSpLocks/>
          </p:cNvCxnSpPr>
          <p:nvPr/>
        </p:nvCxnSpPr>
        <p:spPr>
          <a:xfrm>
            <a:off x="5292046" y="2403498"/>
            <a:ext cx="364861" cy="51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F7ED2E8-6626-9736-BDFD-7E94332C2306}"/>
              </a:ext>
            </a:extLst>
          </p:cNvPr>
          <p:cNvSpPr txBox="1"/>
          <p:nvPr/>
        </p:nvSpPr>
        <p:spPr>
          <a:xfrm>
            <a:off x="5666074" y="2093433"/>
            <a:ext cx="221919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dynamic_message_function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dynamic_message_text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static_sign_text</a:t>
            </a:r>
            <a:endParaRPr lang="en-US" sz="120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3B7958C-A659-5825-B23C-076055945F30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 flipV="1">
            <a:off x="5014948" y="1604289"/>
            <a:ext cx="648590" cy="45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9F8114E-EF50-260E-D664-5808A870D273}"/>
              </a:ext>
            </a:extLst>
          </p:cNvPr>
          <p:cNvSpPr txBox="1"/>
          <p:nvPr/>
        </p:nvSpPr>
        <p:spPr>
          <a:xfrm>
            <a:off x="5663538" y="1465789"/>
            <a:ext cx="58862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853FD-FC18-5417-642A-1DBD26D75BD4}"/>
              </a:ext>
            </a:extLst>
          </p:cNvPr>
          <p:cNvSpPr/>
          <p:nvPr/>
        </p:nvSpPr>
        <p:spPr>
          <a:xfrm>
            <a:off x="3384723" y="2259692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Hybrid Sign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993FF0-C0BF-9D32-D78A-BD2EBEE34DAA}"/>
              </a:ext>
            </a:extLst>
          </p:cNvPr>
          <p:cNvSpPr/>
          <p:nvPr/>
        </p:nvSpPr>
        <p:spPr>
          <a:xfrm>
            <a:off x="3384723" y="2987942"/>
            <a:ext cx="1911928" cy="2752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Marker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DC9E14-7D97-DFA4-B2E8-F74A98D1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93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30BE-641F-D1A1-E7FF-2147AB4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J2945/4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50B0A-3286-2570-9279-3080443A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B4854-95B9-CBFD-ED64-1E8461AE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12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88699" y="25953"/>
            <a:ext cx="882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J2945/4 Road Safety Message Data Structure (1/4: Common Container -&gt; Event Info)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179447" y="386452"/>
            <a:ext cx="1911928" cy="3604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Road Safety Message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687142" y="824039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commonContainer</a:t>
            </a:r>
            <a:endParaRPr 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1028874" y="1190686"/>
            <a:ext cx="1911928" cy="3481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eventInfo</a:t>
            </a:r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833F1-5224-2FEC-3486-4C667DE9BAD3}"/>
              </a:ext>
            </a:extLst>
          </p:cNvPr>
          <p:cNvSpPr/>
          <p:nvPr/>
        </p:nvSpPr>
        <p:spPr>
          <a:xfrm>
            <a:off x="1305972" y="1609132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eventID</a:t>
            </a:r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CA08FC-19A8-EED1-750F-67F64406577A}"/>
              </a:ext>
            </a:extLst>
          </p:cNvPr>
          <p:cNvSpPr/>
          <p:nvPr/>
        </p:nvSpPr>
        <p:spPr>
          <a:xfrm>
            <a:off x="1311554" y="1974307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eventUpdateCount</a:t>
            </a:r>
            <a:r>
              <a:rPr lang="en-US" sz="1200" dirty="0"/>
              <a:t> “revision number”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E8937F-5DCC-C628-0CEE-56B6D055DCC7}"/>
              </a:ext>
            </a:extLst>
          </p:cNvPr>
          <p:cNvSpPr/>
          <p:nvPr/>
        </p:nvSpPr>
        <p:spPr>
          <a:xfrm>
            <a:off x="1308000" y="2795465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startDateTime</a:t>
            </a:r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4050B-8403-80CA-B67E-B8A8874C71DA}"/>
              </a:ext>
            </a:extLst>
          </p:cNvPr>
          <p:cNvSpPr/>
          <p:nvPr/>
        </p:nvSpPr>
        <p:spPr>
          <a:xfrm>
            <a:off x="1310577" y="3165609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endDateTime</a:t>
            </a:r>
            <a:endParaRPr lang="en-US" sz="1200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7093" y="771631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FD7C16-2CC6-2459-D136-C423FC72464E}"/>
              </a:ext>
            </a:extLst>
          </p:cNvPr>
          <p:cNvCxnSpPr>
            <a:cxnSpLocks/>
          </p:cNvCxnSpPr>
          <p:nvPr/>
        </p:nvCxnSpPr>
        <p:spPr>
          <a:xfrm flipV="1">
            <a:off x="1121236" y="174677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CBD642-B8BD-84E7-B537-4A20850808AC}"/>
              </a:ext>
            </a:extLst>
          </p:cNvPr>
          <p:cNvCxnSpPr>
            <a:cxnSpLocks/>
          </p:cNvCxnSpPr>
          <p:nvPr/>
        </p:nvCxnSpPr>
        <p:spPr>
          <a:xfrm>
            <a:off x="1109692" y="1531307"/>
            <a:ext cx="9528" cy="2986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6692A722-7FB9-2810-951D-7AC24AABFF7F}"/>
              </a:ext>
            </a:extLst>
          </p:cNvPr>
          <p:cNvCxnSpPr>
            <a:cxnSpLocks/>
          </p:cNvCxnSpPr>
          <p:nvPr/>
        </p:nvCxnSpPr>
        <p:spPr>
          <a:xfrm flipV="1">
            <a:off x="1116636" y="210028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DE9E7311-6E5A-8022-1656-9190636CC22A}"/>
              </a:ext>
            </a:extLst>
          </p:cNvPr>
          <p:cNvCxnSpPr>
            <a:cxnSpLocks/>
          </p:cNvCxnSpPr>
          <p:nvPr/>
        </p:nvCxnSpPr>
        <p:spPr>
          <a:xfrm flipV="1">
            <a:off x="1121248" y="293771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B940CD74-0DC6-96E8-8A11-A6016D4BDED6}"/>
              </a:ext>
            </a:extLst>
          </p:cNvPr>
          <p:cNvCxnSpPr>
            <a:cxnSpLocks/>
          </p:cNvCxnSpPr>
          <p:nvPr/>
        </p:nvCxnSpPr>
        <p:spPr>
          <a:xfrm flipV="1">
            <a:off x="1116636" y="3296796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>
            <a:off x="844123" y="1099323"/>
            <a:ext cx="11543" cy="3847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848766" y="1298816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1DA9EA8-2BAB-366E-F4D4-21B0D7831A3F}"/>
              </a:ext>
            </a:extLst>
          </p:cNvPr>
          <p:cNvSpPr/>
          <p:nvPr/>
        </p:nvSpPr>
        <p:spPr>
          <a:xfrm>
            <a:off x="1317205" y="3929960"/>
            <a:ext cx="1911928" cy="33570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causeCode</a:t>
            </a:r>
            <a:r>
              <a:rPr lang="en-US" sz="1200" dirty="0"/>
              <a:t> &amp; </a:t>
            </a:r>
            <a:r>
              <a:rPr lang="en-US" sz="1200" dirty="0" err="1"/>
              <a:t>subCauseCode</a:t>
            </a:r>
            <a:endParaRPr lang="en-US" sz="12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34F15A9-1F57-38BE-FC35-C9A982ADCAD2}"/>
              </a:ext>
            </a:extLst>
          </p:cNvPr>
          <p:cNvCxnSpPr>
            <a:cxnSpLocks/>
          </p:cNvCxnSpPr>
          <p:nvPr/>
        </p:nvCxnSpPr>
        <p:spPr>
          <a:xfrm flipV="1">
            <a:off x="1123264" y="406114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54C4A7-389B-136B-A5AA-A5171F9E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D2A64-38A9-F8DB-8DA5-419E3D82D61A}"/>
              </a:ext>
            </a:extLst>
          </p:cNvPr>
          <p:cNvSpPr/>
          <p:nvPr/>
        </p:nvSpPr>
        <p:spPr>
          <a:xfrm>
            <a:off x="1042670" y="4800973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regionInfo</a:t>
            </a:r>
            <a:endParaRPr lang="en-US" sz="1200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FA5A5EA-71A1-DB18-C3F5-3BB9CEE75EE6}"/>
              </a:ext>
            </a:extLst>
          </p:cNvPr>
          <p:cNvCxnSpPr>
            <a:cxnSpLocks/>
          </p:cNvCxnSpPr>
          <p:nvPr/>
        </p:nvCxnSpPr>
        <p:spPr>
          <a:xfrm flipV="1">
            <a:off x="848766" y="4947196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5930F32-E9E9-50F8-60EC-C01E65A15AB0}"/>
              </a:ext>
            </a:extLst>
          </p:cNvPr>
          <p:cNvSpPr/>
          <p:nvPr/>
        </p:nvSpPr>
        <p:spPr>
          <a:xfrm>
            <a:off x="1321829" y="4387154"/>
            <a:ext cx="1911928" cy="33570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affectedVehicles</a:t>
            </a:r>
            <a:endParaRPr lang="en-US" sz="1200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9DAB548-46DB-31DD-550A-DB0BBA3B20A5}"/>
              </a:ext>
            </a:extLst>
          </p:cNvPr>
          <p:cNvCxnSpPr>
            <a:cxnSpLocks/>
          </p:cNvCxnSpPr>
          <p:nvPr/>
        </p:nvCxnSpPr>
        <p:spPr>
          <a:xfrm flipV="1">
            <a:off x="1127888" y="451834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6FFF463-D6B3-AFC4-140C-B00F7387B2E5}"/>
              </a:ext>
            </a:extLst>
          </p:cNvPr>
          <p:cNvSpPr/>
          <p:nvPr/>
        </p:nvSpPr>
        <p:spPr>
          <a:xfrm>
            <a:off x="1310577" y="316593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endDateTime</a:t>
            </a:r>
            <a:endParaRPr lang="en-US" sz="1200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725D19A-DAD3-5380-C41B-4621B13AEE46}"/>
              </a:ext>
            </a:extLst>
          </p:cNvPr>
          <p:cNvCxnSpPr>
            <a:cxnSpLocks/>
          </p:cNvCxnSpPr>
          <p:nvPr/>
        </p:nvCxnSpPr>
        <p:spPr>
          <a:xfrm flipV="1">
            <a:off x="1116636" y="329711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C5FC8C2-10BE-5648-FFFE-086AFF2388CC}"/>
              </a:ext>
            </a:extLst>
          </p:cNvPr>
          <p:cNvSpPr/>
          <p:nvPr/>
        </p:nvSpPr>
        <p:spPr>
          <a:xfrm>
            <a:off x="1315201" y="354923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eventReccurence</a:t>
            </a:r>
            <a:endParaRPr lang="en-US" sz="1200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8E88FE3-7633-D105-99C1-BB573FEE81CB}"/>
              </a:ext>
            </a:extLst>
          </p:cNvPr>
          <p:cNvCxnSpPr>
            <a:cxnSpLocks/>
          </p:cNvCxnSpPr>
          <p:nvPr/>
        </p:nvCxnSpPr>
        <p:spPr>
          <a:xfrm flipV="1">
            <a:off x="1121260" y="368042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82516-B8CD-C31F-2DD4-C2DB7A31197E}"/>
              </a:ext>
            </a:extLst>
          </p:cNvPr>
          <p:cNvSpPr/>
          <p:nvPr/>
        </p:nvSpPr>
        <p:spPr>
          <a:xfrm>
            <a:off x="1321858" y="2421394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eventCancellation</a:t>
            </a:r>
            <a:endParaRPr lang="en-US" sz="120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A9FA09C-9C51-F9C8-2BE5-9FB6206FCE75}"/>
              </a:ext>
            </a:extLst>
          </p:cNvPr>
          <p:cNvCxnSpPr>
            <a:cxnSpLocks/>
          </p:cNvCxnSpPr>
          <p:nvPr/>
        </p:nvCxnSpPr>
        <p:spPr>
          <a:xfrm flipV="1">
            <a:off x="1135106" y="256364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4F1366-F375-A1A0-498A-E23B21583143}"/>
              </a:ext>
            </a:extLst>
          </p:cNvPr>
          <p:cNvCxnSpPr>
            <a:cxnSpLocks/>
          </p:cNvCxnSpPr>
          <p:nvPr/>
        </p:nvCxnSpPr>
        <p:spPr>
          <a:xfrm>
            <a:off x="525469" y="946927"/>
            <a:ext cx="0" cy="4360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A618975-CD62-2074-0323-59C9EEBE272A}"/>
              </a:ext>
            </a:extLst>
          </p:cNvPr>
          <p:cNvSpPr/>
          <p:nvPr/>
        </p:nvSpPr>
        <p:spPr>
          <a:xfrm>
            <a:off x="691766" y="5169766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contentContainer</a:t>
            </a:r>
            <a:endParaRPr lang="en-US" sz="1200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B92AA4B-78B7-760B-3354-B90DF602DB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1717" y="5117358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586317-2D81-638D-C231-CFA0CA84DD9C}"/>
              </a:ext>
            </a:extLst>
          </p:cNvPr>
          <p:cNvCxnSpPr>
            <a:cxnSpLocks/>
          </p:cNvCxnSpPr>
          <p:nvPr/>
        </p:nvCxnSpPr>
        <p:spPr>
          <a:xfrm flipH="1">
            <a:off x="851375" y="5454298"/>
            <a:ext cx="4291" cy="125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D715465-022D-3C4E-D7DA-D7FE0856EF6B}"/>
              </a:ext>
            </a:extLst>
          </p:cNvPr>
          <p:cNvSpPr/>
          <p:nvPr/>
        </p:nvSpPr>
        <p:spPr>
          <a:xfrm>
            <a:off x="1019660" y="6225513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situational container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CD2FF80-52CC-4AD7-C110-C4031F80D148}"/>
              </a:ext>
            </a:extLst>
          </p:cNvPr>
          <p:cNvCxnSpPr>
            <a:cxnSpLocks/>
          </p:cNvCxnSpPr>
          <p:nvPr/>
        </p:nvCxnSpPr>
        <p:spPr>
          <a:xfrm flipV="1">
            <a:off x="842151" y="638804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7EDDDAF-2E34-4640-251B-5608EB6B973E}"/>
              </a:ext>
            </a:extLst>
          </p:cNvPr>
          <p:cNvSpPr/>
          <p:nvPr/>
        </p:nvSpPr>
        <p:spPr>
          <a:xfrm>
            <a:off x="1024284" y="6553399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incident container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C9965ED-5A23-7271-26C9-24FFB338FC9A}"/>
              </a:ext>
            </a:extLst>
          </p:cNvPr>
          <p:cNvCxnSpPr>
            <a:cxnSpLocks/>
          </p:cNvCxnSpPr>
          <p:nvPr/>
        </p:nvCxnSpPr>
        <p:spPr>
          <a:xfrm flipV="1">
            <a:off x="846775" y="671592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CEAFE4C-181E-FF06-FFDE-F887B0F3F25D}"/>
              </a:ext>
            </a:extLst>
          </p:cNvPr>
          <p:cNvSpPr/>
          <p:nvPr/>
        </p:nvSpPr>
        <p:spPr>
          <a:xfrm>
            <a:off x="1015048" y="5509694"/>
            <a:ext cx="1911928" cy="3288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reduced speed zone  container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541C1AF-C142-4264-32EC-2EE6A7EA9369}"/>
              </a:ext>
            </a:extLst>
          </p:cNvPr>
          <p:cNvCxnSpPr>
            <a:cxnSpLocks/>
          </p:cNvCxnSpPr>
          <p:nvPr/>
        </p:nvCxnSpPr>
        <p:spPr>
          <a:xfrm flipV="1">
            <a:off x="837539" y="570916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A6350-63E1-B502-BA4B-13F8697CABAE}"/>
              </a:ext>
            </a:extLst>
          </p:cNvPr>
          <p:cNvSpPr/>
          <p:nvPr/>
        </p:nvSpPr>
        <p:spPr>
          <a:xfrm>
            <a:off x="1019672" y="5911468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closure container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09480B5-1257-A3C4-B3B3-D824743DE8D4}"/>
              </a:ext>
            </a:extLst>
          </p:cNvPr>
          <p:cNvCxnSpPr>
            <a:cxnSpLocks/>
          </p:cNvCxnSpPr>
          <p:nvPr/>
        </p:nvCxnSpPr>
        <p:spPr>
          <a:xfrm flipV="1">
            <a:off x="842163" y="607399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883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88699" y="25953"/>
            <a:ext cx="882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J2945/4 Road Safety Message Data Structure (2/4: Content Container -&gt; Region Info)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179447" y="451105"/>
            <a:ext cx="1911928" cy="3604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Road Safety Message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687142" y="888692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commonContainer</a:t>
            </a:r>
            <a:endParaRPr 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1028874" y="1255339"/>
            <a:ext cx="1911928" cy="3481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eventInfo</a:t>
            </a:r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833F1-5224-2FEC-3486-4C667DE9BAD3}"/>
              </a:ext>
            </a:extLst>
          </p:cNvPr>
          <p:cNvSpPr/>
          <p:nvPr/>
        </p:nvSpPr>
        <p:spPr>
          <a:xfrm>
            <a:off x="1370619" y="4100140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approachRegion</a:t>
            </a:r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CA08FC-19A8-EED1-750F-67F64406577A}"/>
              </a:ext>
            </a:extLst>
          </p:cNvPr>
          <p:cNvSpPr/>
          <p:nvPr/>
        </p:nvSpPr>
        <p:spPr>
          <a:xfrm>
            <a:off x="1376201" y="2128511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applicableHeading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E8937F-5DCC-C628-0CEE-56B6D055DCC7}"/>
              </a:ext>
            </a:extLst>
          </p:cNvPr>
          <p:cNvSpPr/>
          <p:nvPr/>
        </p:nvSpPr>
        <p:spPr>
          <a:xfrm>
            <a:off x="1372647" y="2949669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locationUncertainty</a:t>
            </a:r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4050B-8403-80CA-B67E-B8A8874C71DA}"/>
              </a:ext>
            </a:extLst>
          </p:cNvPr>
          <p:cNvSpPr/>
          <p:nvPr/>
        </p:nvSpPr>
        <p:spPr>
          <a:xfrm>
            <a:off x="1375224" y="3319813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endDateTime</a:t>
            </a:r>
            <a:endParaRPr lang="en-US" sz="1200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7093" y="836284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FD7C16-2CC6-2459-D136-C423FC72464E}"/>
              </a:ext>
            </a:extLst>
          </p:cNvPr>
          <p:cNvCxnSpPr>
            <a:cxnSpLocks/>
          </p:cNvCxnSpPr>
          <p:nvPr/>
        </p:nvCxnSpPr>
        <p:spPr>
          <a:xfrm flipV="1">
            <a:off x="1185883" y="423778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CBD642-B8BD-84E7-B537-4A20850808AC}"/>
              </a:ext>
            </a:extLst>
          </p:cNvPr>
          <p:cNvCxnSpPr>
            <a:cxnSpLocks/>
          </p:cNvCxnSpPr>
          <p:nvPr/>
        </p:nvCxnSpPr>
        <p:spPr>
          <a:xfrm>
            <a:off x="1172059" y="2032020"/>
            <a:ext cx="11808" cy="2205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6692A722-7FB9-2810-951D-7AC24AABFF7F}"/>
              </a:ext>
            </a:extLst>
          </p:cNvPr>
          <p:cNvCxnSpPr>
            <a:cxnSpLocks/>
          </p:cNvCxnSpPr>
          <p:nvPr/>
        </p:nvCxnSpPr>
        <p:spPr>
          <a:xfrm flipV="1">
            <a:off x="1181283" y="2254486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DE9E7311-6E5A-8022-1656-9190636CC22A}"/>
              </a:ext>
            </a:extLst>
          </p:cNvPr>
          <p:cNvCxnSpPr>
            <a:cxnSpLocks/>
          </p:cNvCxnSpPr>
          <p:nvPr/>
        </p:nvCxnSpPr>
        <p:spPr>
          <a:xfrm flipV="1">
            <a:off x="1185895" y="309192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B940CD74-0DC6-96E8-8A11-A6016D4BDED6}"/>
              </a:ext>
            </a:extLst>
          </p:cNvPr>
          <p:cNvCxnSpPr>
            <a:cxnSpLocks/>
          </p:cNvCxnSpPr>
          <p:nvPr/>
        </p:nvCxnSpPr>
        <p:spPr>
          <a:xfrm flipV="1">
            <a:off x="1181283" y="3451000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>
            <a:off x="843848" y="1163976"/>
            <a:ext cx="2599" cy="73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848766" y="1363469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54C4A7-389B-136B-A5AA-A5171F9E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D2A64-38A9-F8DB-8DA5-419E3D82D61A}"/>
              </a:ext>
            </a:extLst>
          </p:cNvPr>
          <p:cNvSpPr/>
          <p:nvPr/>
        </p:nvSpPr>
        <p:spPr>
          <a:xfrm>
            <a:off x="1042670" y="1723039"/>
            <a:ext cx="1911928" cy="30521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regionInfo</a:t>
            </a:r>
            <a:endParaRPr lang="en-US" sz="1200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FA5A5EA-71A1-DB18-C3F5-3BB9CEE75EE6}"/>
              </a:ext>
            </a:extLst>
          </p:cNvPr>
          <p:cNvCxnSpPr>
            <a:cxnSpLocks/>
          </p:cNvCxnSpPr>
          <p:nvPr/>
        </p:nvCxnSpPr>
        <p:spPr>
          <a:xfrm flipV="1">
            <a:off x="848766" y="189919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6FFF463-D6B3-AFC4-140C-B00F7387B2E5}"/>
              </a:ext>
            </a:extLst>
          </p:cNvPr>
          <p:cNvSpPr/>
          <p:nvPr/>
        </p:nvSpPr>
        <p:spPr>
          <a:xfrm>
            <a:off x="1375224" y="3320135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referencePointType</a:t>
            </a:r>
            <a:endParaRPr lang="en-US" sz="1200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725D19A-DAD3-5380-C41B-4621B13AEE46}"/>
              </a:ext>
            </a:extLst>
          </p:cNvPr>
          <p:cNvCxnSpPr>
            <a:cxnSpLocks/>
          </p:cNvCxnSpPr>
          <p:nvPr/>
        </p:nvCxnSpPr>
        <p:spPr>
          <a:xfrm flipV="1">
            <a:off x="1181283" y="345132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C5FC8C2-10BE-5648-FFFE-086AFF2388CC}"/>
              </a:ext>
            </a:extLst>
          </p:cNvPr>
          <p:cNvSpPr/>
          <p:nvPr/>
        </p:nvSpPr>
        <p:spPr>
          <a:xfrm>
            <a:off x="1379848" y="3703442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descriptiveName</a:t>
            </a:r>
            <a:endParaRPr lang="en-US" sz="1200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8E88FE3-7633-D105-99C1-BB573FEE81CB}"/>
              </a:ext>
            </a:extLst>
          </p:cNvPr>
          <p:cNvCxnSpPr>
            <a:cxnSpLocks/>
          </p:cNvCxnSpPr>
          <p:nvPr/>
        </p:nvCxnSpPr>
        <p:spPr>
          <a:xfrm flipV="1">
            <a:off x="1185907" y="3834629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82516-B8CD-C31F-2DD4-C2DB7A31197E}"/>
              </a:ext>
            </a:extLst>
          </p:cNvPr>
          <p:cNvSpPr/>
          <p:nvPr/>
        </p:nvSpPr>
        <p:spPr>
          <a:xfrm>
            <a:off x="1386505" y="257559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referencePoint</a:t>
            </a:r>
            <a:endParaRPr lang="en-US" sz="120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A9FA09C-9C51-F9C8-2BE5-9FB6206FCE75}"/>
              </a:ext>
            </a:extLst>
          </p:cNvPr>
          <p:cNvCxnSpPr>
            <a:cxnSpLocks/>
          </p:cNvCxnSpPr>
          <p:nvPr/>
        </p:nvCxnSpPr>
        <p:spPr>
          <a:xfrm flipV="1">
            <a:off x="1199753" y="2717851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4F1366-F375-A1A0-498A-E23B21583143}"/>
              </a:ext>
            </a:extLst>
          </p:cNvPr>
          <p:cNvCxnSpPr>
            <a:cxnSpLocks/>
          </p:cNvCxnSpPr>
          <p:nvPr/>
        </p:nvCxnSpPr>
        <p:spPr>
          <a:xfrm>
            <a:off x="525469" y="1011580"/>
            <a:ext cx="0" cy="3612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A618975-CD62-2074-0323-59C9EEBE272A}"/>
              </a:ext>
            </a:extLst>
          </p:cNvPr>
          <p:cNvSpPr/>
          <p:nvPr/>
        </p:nvSpPr>
        <p:spPr>
          <a:xfrm>
            <a:off x="691766" y="4486280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contentContainer</a:t>
            </a:r>
            <a:endParaRPr lang="en-US" sz="1200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B92AA4B-78B7-760B-3354-B90DF602DB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1717" y="4433872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B7F37C5-2644-7AA6-EC59-949899F263A7}"/>
              </a:ext>
            </a:extLst>
          </p:cNvPr>
          <p:cNvCxnSpPr>
            <a:cxnSpLocks/>
          </p:cNvCxnSpPr>
          <p:nvPr/>
        </p:nvCxnSpPr>
        <p:spPr>
          <a:xfrm flipH="1">
            <a:off x="851375" y="4761564"/>
            <a:ext cx="4291" cy="125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F1FC50A-BDB0-B06A-01B5-CCCB14637419}"/>
              </a:ext>
            </a:extLst>
          </p:cNvPr>
          <p:cNvSpPr/>
          <p:nvPr/>
        </p:nvSpPr>
        <p:spPr>
          <a:xfrm>
            <a:off x="1019660" y="5532779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situational container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E1123E6E-7B6C-CC4A-39FD-B39D73983D0D}"/>
              </a:ext>
            </a:extLst>
          </p:cNvPr>
          <p:cNvCxnSpPr>
            <a:cxnSpLocks/>
          </p:cNvCxnSpPr>
          <p:nvPr/>
        </p:nvCxnSpPr>
        <p:spPr>
          <a:xfrm flipV="1">
            <a:off x="842151" y="569530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0D48EFD-E3C8-BE0A-E712-7C94687C9748}"/>
              </a:ext>
            </a:extLst>
          </p:cNvPr>
          <p:cNvSpPr/>
          <p:nvPr/>
        </p:nvSpPr>
        <p:spPr>
          <a:xfrm>
            <a:off x="1024284" y="5860665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incident container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1CE90ACC-0E42-7A04-8E27-93A2BE2E69E4}"/>
              </a:ext>
            </a:extLst>
          </p:cNvPr>
          <p:cNvCxnSpPr>
            <a:cxnSpLocks/>
          </p:cNvCxnSpPr>
          <p:nvPr/>
        </p:nvCxnSpPr>
        <p:spPr>
          <a:xfrm flipV="1">
            <a:off x="846775" y="6023194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296B0AA-8B24-BE01-66F7-0D9FFF169208}"/>
              </a:ext>
            </a:extLst>
          </p:cNvPr>
          <p:cNvSpPr/>
          <p:nvPr/>
        </p:nvSpPr>
        <p:spPr>
          <a:xfrm>
            <a:off x="1015048" y="4816960"/>
            <a:ext cx="1911928" cy="3288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reduced speed zone  container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C0842E1-6027-AEE1-8063-775A6ED9673F}"/>
              </a:ext>
            </a:extLst>
          </p:cNvPr>
          <p:cNvCxnSpPr>
            <a:cxnSpLocks/>
          </p:cNvCxnSpPr>
          <p:nvPr/>
        </p:nvCxnSpPr>
        <p:spPr>
          <a:xfrm flipV="1">
            <a:off x="837539" y="501643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0BC2C918-1A1C-C5AB-B452-013DBCA2FD39}"/>
              </a:ext>
            </a:extLst>
          </p:cNvPr>
          <p:cNvSpPr/>
          <p:nvPr/>
        </p:nvSpPr>
        <p:spPr>
          <a:xfrm>
            <a:off x="1019672" y="5218734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closure container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B2DB2740-E756-7D77-6665-1A273A9E6A85}"/>
              </a:ext>
            </a:extLst>
          </p:cNvPr>
          <p:cNvCxnSpPr>
            <a:cxnSpLocks/>
          </p:cNvCxnSpPr>
          <p:nvPr/>
        </p:nvCxnSpPr>
        <p:spPr>
          <a:xfrm flipV="1">
            <a:off x="842163" y="538126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88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88699" y="25953"/>
            <a:ext cx="8826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J2945/4 Road Safety Message Data Structure (3/4: Content Container -&gt; Reduced Speed Zone Container &amp; Lane Closure Container)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179447" y="700481"/>
            <a:ext cx="1911928" cy="3604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Road Safety Message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687142" y="113806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common Container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1019648" y="1865949"/>
            <a:ext cx="1911928" cy="3692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reduced Speed Zone Container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7093" y="1085660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>
            <a:off x="834622" y="1792042"/>
            <a:ext cx="7517" cy="4929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842139" y="2028478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54C4A7-389B-136B-A5AA-A5171F9E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18</a:t>
            </a:fld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4F1366-F375-A1A0-498A-E23B21583143}"/>
              </a:ext>
            </a:extLst>
          </p:cNvPr>
          <p:cNvCxnSpPr>
            <a:cxnSpLocks/>
          </p:cNvCxnSpPr>
          <p:nvPr/>
        </p:nvCxnSpPr>
        <p:spPr>
          <a:xfrm>
            <a:off x="525469" y="1260956"/>
            <a:ext cx="0" cy="416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A618975-CD62-2074-0323-59C9EEBE272A}"/>
              </a:ext>
            </a:extLst>
          </p:cNvPr>
          <p:cNvSpPr/>
          <p:nvPr/>
        </p:nvSpPr>
        <p:spPr>
          <a:xfrm>
            <a:off x="691766" y="1512165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 Container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B92AA4B-78B7-760B-3354-B90DF602DB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1717" y="1459757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238A03-DE9F-482F-131F-670DC1EFDDB7}"/>
              </a:ext>
            </a:extLst>
          </p:cNvPr>
          <p:cNvSpPr txBox="1"/>
          <p:nvPr/>
        </p:nvSpPr>
        <p:spPr>
          <a:xfrm rot="16200000">
            <a:off x="180820" y="3591506"/>
            <a:ext cx="1012644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(one of)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4BB2E1-AB4D-62E3-764C-C995072D8323}"/>
              </a:ext>
            </a:extLst>
          </p:cNvPr>
          <p:cNvSpPr/>
          <p:nvPr/>
        </p:nvSpPr>
        <p:spPr>
          <a:xfrm>
            <a:off x="1390061" y="2317857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regulatory speed limit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103DE6-A787-50BB-5532-5356CBAC2566}"/>
              </a:ext>
            </a:extLst>
          </p:cNvPr>
          <p:cNvCxnSpPr>
            <a:cxnSpLocks/>
          </p:cNvCxnSpPr>
          <p:nvPr/>
        </p:nvCxnSpPr>
        <p:spPr>
          <a:xfrm>
            <a:off x="1185919" y="2221366"/>
            <a:ext cx="8142" cy="73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B757845-4721-A11F-952E-5B96830D07C5}"/>
              </a:ext>
            </a:extLst>
          </p:cNvPr>
          <p:cNvCxnSpPr>
            <a:cxnSpLocks/>
          </p:cNvCxnSpPr>
          <p:nvPr/>
        </p:nvCxnSpPr>
        <p:spPr>
          <a:xfrm flipV="1">
            <a:off x="1195143" y="2471540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D3D3AE4-85DE-46D3-5086-5C7868FAA946}"/>
              </a:ext>
            </a:extLst>
          </p:cNvPr>
          <p:cNvCxnSpPr>
            <a:cxnSpLocks/>
          </p:cNvCxnSpPr>
          <p:nvPr/>
        </p:nvCxnSpPr>
        <p:spPr>
          <a:xfrm flipV="1">
            <a:off x="1195141" y="2944141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E944376-B144-05C1-4490-682E690BF687}"/>
              </a:ext>
            </a:extLst>
          </p:cNvPr>
          <p:cNvSpPr/>
          <p:nvPr/>
        </p:nvSpPr>
        <p:spPr>
          <a:xfrm>
            <a:off x="1376213" y="2784291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Region Info</a:t>
            </a:r>
          </a:p>
          <a:p>
            <a:pPr algn="ctr"/>
            <a:r>
              <a:rPr lang="en-US" sz="1200" dirty="0"/>
              <a:t>(see 2/4)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7CBCFD-4812-D7BC-DCB8-389A1DCA8D1A}"/>
              </a:ext>
            </a:extLst>
          </p:cNvPr>
          <p:cNvSpPr/>
          <p:nvPr/>
        </p:nvSpPr>
        <p:spPr>
          <a:xfrm>
            <a:off x="996564" y="3228306"/>
            <a:ext cx="1911928" cy="3692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Closure Container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CBFFC36-09E8-E40B-4CF9-C22ED930B2CA}"/>
              </a:ext>
            </a:extLst>
          </p:cNvPr>
          <p:cNvCxnSpPr>
            <a:cxnSpLocks/>
          </p:cNvCxnSpPr>
          <p:nvPr/>
        </p:nvCxnSpPr>
        <p:spPr>
          <a:xfrm flipV="1">
            <a:off x="819055" y="339083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DFCAD16-D30C-0CC1-080B-2C9E148EC53A}"/>
              </a:ext>
            </a:extLst>
          </p:cNvPr>
          <p:cNvSpPr/>
          <p:nvPr/>
        </p:nvSpPr>
        <p:spPr>
          <a:xfrm>
            <a:off x="1366977" y="3689450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status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D55A40-39DE-99C3-6E7C-EEEE3F7FBF62}"/>
              </a:ext>
            </a:extLst>
          </p:cNvPr>
          <p:cNvCxnSpPr>
            <a:cxnSpLocks/>
          </p:cNvCxnSpPr>
          <p:nvPr/>
        </p:nvCxnSpPr>
        <p:spPr>
          <a:xfrm>
            <a:off x="1162835" y="3592959"/>
            <a:ext cx="12785" cy="2403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EBF02D3-5A72-114D-6C13-59FAE5B5631A}"/>
              </a:ext>
            </a:extLst>
          </p:cNvPr>
          <p:cNvCxnSpPr>
            <a:cxnSpLocks/>
          </p:cNvCxnSpPr>
          <p:nvPr/>
        </p:nvCxnSpPr>
        <p:spPr>
          <a:xfrm flipV="1">
            <a:off x="1172059" y="384313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92A89C2-030D-F6F7-D305-615205ADFFCA}"/>
              </a:ext>
            </a:extLst>
          </p:cNvPr>
          <p:cNvCxnSpPr>
            <a:cxnSpLocks/>
          </p:cNvCxnSpPr>
          <p:nvPr/>
        </p:nvCxnSpPr>
        <p:spPr>
          <a:xfrm flipV="1">
            <a:off x="1181293" y="595980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19AD7B4-5BAB-EE52-971E-62B72947BF83}"/>
              </a:ext>
            </a:extLst>
          </p:cNvPr>
          <p:cNvSpPr/>
          <p:nvPr/>
        </p:nvSpPr>
        <p:spPr>
          <a:xfrm>
            <a:off x="1362365" y="5799952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Region Info</a:t>
            </a:r>
          </a:p>
          <a:p>
            <a:pPr algn="ctr"/>
            <a:r>
              <a:rPr lang="en-US" sz="1200" dirty="0"/>
              <a:t>(see 2/4)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72D0A8-E773-FD6F-2407-399801B36782}"/>
              </a:ext>
            </a:extLst>
          </p:cNvPr>
          <p:cNvSpPr/>
          <p:nvPr/>
        </p:nvSpPr>
        <p:spPr>
          <a:xfrm>
            <a:off x="1694862" y="4137420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position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B3E060-946F-2726-04F8-D4C134F0076C}"/>
              </a:ext>
            </a:extLst>
          </p:cNvPr>
          <p:cNvSpPr/>
          <p:nvPr/>
        </p:nvSpPr>
        <p:spPr>
          <a:xfrm>
            <a:off x="1700544" y="495857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close offset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D200C0E-BA01-6987-17E7-196BCB42A1E8}"/>
              </a:ext>
            </a:extLst>
          </p:cNvPr>
          <p:cNvCxnSpPr>
            <a:cxnSpLocks/>
          </p:cNvCxnSpPr>
          <p:nvPr/>
        </p:nvCxnSpPr>
        <p:spPr>
          <a:xfrm flipV="1">
            <a:off x="1499944" y="426339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9ABDA12-528F-5FDD-4CFB-1380ED8D4E1C}"/>
              </a:ext>
            </a:extLst>
          </p:cNvPr>
          <p:cNvCxnSpPr>
            <a:cxnSpLocks/>
          </p:cNvCxnSpPr>
          <p:nvPr/>
        </p:nvCxnSpPr>
        <p:spPr>
          <a:xfrm flipV="1">
            <a:off x="1504556" y="5100831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ED46EB2-E4E1-933F-2200-68D7A74AC02A}"/>
              </a:ext>
            </a:extLst>
          </p:cNvPr>
          <p:cNvSpPr/>
          <p:nvPr/>
        </p:nvSpPr>
        <p:spPr>
          <a:xfrm>
            <a:off x="1705166" y="4584507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closed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47CAE60-A51F-417C-DA78-4FE0F023BC3E}"/>
              </a:ext>
            </a:extLst>
          </p:cNvPr>
          <p:cNvCxnSpPr>
            <a:cxnSpLocks/>
          </p:cNvCxnSpPr>
          <p:nvPr/>
        </p:nvCxnSpPr>
        <p:spPr>
          <a:xfrm flipV="1">
            <a:off x="1518414" y="4726760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7BF774-9AF1-A7A6-F7C9-EBADFA379048}"/>
              </a:ext>
            </a:extLst>
          </p:cNvPr>
          <p:cNvCxnSpPr>
            <a:cxnSpLocks/>
          </p:cNvCxnSpPr>
          <p:nvPr/>
        </p:nvCxnSpPr>
        <p:spPr>
          <a:xfrm>
            <a:off x="1499955" y="4003980"/>
            <a:ext cx="2561" cy="1096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E24A3BC-CDE2-0517-098B-7AFC0DA0E396}"/>
              </a:ext>
            </a:extLst>
          </p:cNvPr>
          <p:cNvSpPr/>
          <p:nvPr/>
        </p:nvSpPr>
        <p:spPr>
          <a:xfrm>
            <a:off x="1380833" y="5338145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status varies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B5A477C8-F4D1-A23C-3DD3-9070C178CEC8}"/>
              </a:ext>
            </a:extLst>
          </p:cNvPr>
          <p:cNvCxnSpPr>
            <a:cxnSpLocks/>
          </p:cNvCxnSpPr>
          <p:nvPr/>
        </p:nvCxnSpPr>
        <p:spPr>
          <a:xfrm flipV="1">
            <a:off x="1185915" y="5464120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C08D8F5-AF1B-F708-AA1C-FFE90C2FD858}"/>
              </a:ext>
            </a:extLst>
          </p:cNvPr>
          <p:cNvSpPr/>
          <p:nvPr/>
        </p:nvSpPr>
        <p:spPr>
          <a:xfrm>
            <a:off x="1010424" y="6234742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situational container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D10A8CA-CEA0-9782-449B-3A172544FB2B}"/>
              </a:ext>
            </a:extLst>
          </p:cNvPr>
          <p:cNvCxnSpPr>
            <a:cxnSpLocks/>
          </p:cNvCxnSpPr>
          <p:nvPr/>
        </p:nvCxnSpPr>
        <p:spPr>
          <a:xfrm flipV="1">
            <a:off x="832915" y="6397271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1F1099C-2E3F-DF88-829A-00E06B0BF673}"/>
              </a:ext>
            </a:extLst>
          </p:cNvPr>
          <p:cNvSpPr/>
          <p:nvPr/>
        </p:nvSpPr>
        <p:spPr>
          <a:xfrm>
            <a:off x="1015048" y="6562628"/>
            <a:ext cx="1911928" cy="2576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incident container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8BA0FEE-AF12-6076-618A-8D78D1E7AC4D}"/>
              </a:ext>
            </a:extLst>
          </p:cNvPr>
          <p:cNvCxnSpPr>
            <a:cxnSpLocks/>
          </p:cNvCxnSpPr>
          <p:nvPr/>
        </p:nvCxnSpPr>
        <p:spPr>
          <a:xfrm flipV="1">
            <a:off x="837539" y="672515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470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897B4F4-BD4A-1CAE-AD3C-8491177B5E11}"/>
              </a:ext>
            </a:extLst>
          </p:cNvPr>
          <p:cNvSpPr txBox="1"/>
          <p:nvPr/>
        </p:nvSpPr>
        <p:spPr>
          <a:xfrm>
            <a:off x="88699" y="25953"/>
            <a:ext cx="8826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J2945/4 Road Safety Message Data Structure (4/4: Content Container -&gt; Situational  Container &amp; Content Container -&gt; Incident Container)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AAA81-5D8A-78FD-C425-9740F347F780}"/>
              </a:ext>
            </a:extLst>
          </p:cNvPr>
          <p:cNvSpPr/>
          <p:nvPr/>
        </p:nvSpPr>
        <p:spPr>
          <a:xfrm>
            <a:off x="179447" y="718956"/>
            <a:ext cx="1911928" cy="3604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Road Safety Message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ABC23-C5C0-6FAC-C0AB-385A71527EB7}"/>
              </a:ext>
            </a:extLst>
          </p:cNvPr>
          <p:cNvSpPr/>
          <p:nvPr/>
        </p:nvSpPr>
        <p:spPr>
          <a:xfrm>
            <a:off x="687142" y="1156543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common container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EDE65-8068-CDF2-A65D-9DA1FA2AB689}"/>
              </a:ext>
            </a:extLst>
          </p:cNvPr>
          <p:cNvSpPr/>
          <p:nvPr/>
        </p:nvSpPr>
        <p:spPr>
          <a:xfrm>
            <a:off x="1019648" y="1912132"/>
            <a:ext cx="1911928" cy="36924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reduced speed zone container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1AD6ED-3CEA-146F-1322-C156BC3C0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7093" y="1104135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56A7C-7BD9-D6F0-4089-0A3961CC5A37}"/>
              </a:ext>
            </a:extLst>
          </p:cNvPr>
          <p:cNvCxnSpPr>
            <a:cxnSpLocks/>
          </p:cNvCxnSpPr>
          <p:nvPr/>
        </p:nvCxnSpPr>
        <p:spPr>
          <a:xfrm flipH="1">
            <a:off x="820116" y="1838225"/>
            <a:ext cx="14506" cy="3964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F716979-9E21-1703-7ED1-FDAFFB27B803}"/>
              </a:ext>
            </a:extLst>
          </p:cNvPr>
          <p:cNvCxnSpPr>
            <a:cxnSpLocks/>
          </p:cNvCxnSpPr>
          <p:nvPr/>
        </p:nvCxnSpPr>
        <p:spPr>
          <a:xfrm flipV="1">
            <a:off x="842139" y="2074661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54C4A7-389B-136B-A5AA-A5171F9E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EEE2-75D1-4BD2-8173-6791A1099C16}" type="slidenum">
              <a:rPr lang="en-US" smtClean="0"/>
              <a:t>19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82516-B8CD-C31F-2DD4-C2DB7A31197E}"/>
              </a:ext>
            </a:extLst>
          </p:cNvPr>
          <p:cNvSpPr/>
          <p:nvPr/>
        </p:nvSpPr>
        <p:spPr>
          <a:xfrm>
            <a:off x="1017058" y="5660545"/>
            <a:ext cx="1911928" cy="32563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incident container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A9FA09C-9C51-F9C8-2BE5-9FB6206FCE75}"/>
              </a:ext>
            </a:extLst>
          </p:cNvPr>
          <p:cNvCxnSpPr>
            <a:cxnSpLocks/>
          </p:cNvCxnSpPr>
          <p:nvPr/>
        </p:nvCxnSpPr>
        <p:spPr>
          <a:xfrm flipV="1">
            <a:off x="830306" y="5802799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4F1366-F375-A1A0-498A-E23B21583143}"/>
              </a:ext>
            </a:extLst>
          </p:cNvPr>
          <p:cNvCxnSpPr>
            <a:cxnSpLocks/>
          </p:cNvCxnSpPr>
          <p:nvPr/>
        </p:nvCxnSpPr>
        <p:spPr>
          <a:xfrm>
            <a:off x="525469" y="1279431"/>
            <a:ext cx="0" cy="416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A618975-CD62-2074-0323-59C9EEBE272A}"/>
              </a:ext>
            </a:extLst>
          </p:cNvPr>
          <p:cNvSpPr/>
          <p:nvPr/>
        </p:nvSpPr>
        <p:spPr>
          <a:xfrm>
            <a:off x="691766" y="1558348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 container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B92AA4B-78B7-760B-3354-B90DF602DB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1717" y="1505940"/>
            <a:ext cx="216151" cy="163950"/>
          </a:xfrm>
          <a:prstGeom prst="bentConnector3">
            <a:avLst>
              <a:gd name="adj1" fmla="val 927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238A03-DE9F-482F-131F-670DC1EFDDB7}"/>
              </a:ext>
            </a:extLst>
          </p:cNvPr>
          <p:cNvSpPr txBox="1"/>
          <p:nvPr/>
        </p:nvSpPr>
        <p:spPr>
          <a:xfrm rot="16200000">
            <a:off x="180820" y="3343213"/>
            <a:ext cx="1012644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(one of)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4BB2E1-AB4D-62E3-764C-C995072D8323}"/>
              </a:ext>
            </a:extLst>
          </p:cNvPr>
          <p:cNvSpPr/>
          <p:nvPr/>
        </p:nvSpPr>
        <p:spPr>
          <a:xfrm>
            <a:off x="1029848" y="2373276"/>
            <a:ext cx="1911928" cy="2867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 closure container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B757845-4721-A11F-952E-5B96830D07C5}"/>
              </a:ext>
            </a:extLst>
          </p:cNvPr>
          <p:cNvCxnSpPr>
            <a:cxnSpLocks/>
          </p:cNvCxnSpPr>
          <p:nvPr/>
        </p:nvCxnSpPr>
        <p:spPr>
          <a:xfrm flipV="1">
            <a:off x="834930" y="2526959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87CBCFD-4812-D7BC-DCB8-389A1DCA8D1A}"/>
              </a:ext>
            </a:extLst>
          </p:cNvPr>
          <p:cNvSpPr/>
          <p:nvPr/>
        </p:nvSpPr>
        <p:spPr>
          <a:xfrm>
            <a:off x="996564" y="2766494"/>
            <a:ext cx="1911928" cy="3692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situational container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CBFFC36-09E8-E40B-4CF9-C22ED930B2CA}"/>
              </a:ext>
            </a:extLst>
          </p:cNvPr>
          <p:cNvCxnSpPr>
            <a:cxnSpLocks/>
          </p:cNvCxnSpPr>
          <p:nvPr/>
        </p:nvCxnSpPr>
        <p:spPr>
          <a:xfrm flipV="1">
            <a:off x="819055" y="292902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DFCAD16-D30C-0CC1-080B-2C9E148EC53A}"/>
              </a:ext>
            </a:extLst>
          </p:cNvPr>
          <p:cNvSpPr/>
          <p:nvPr/>
        </p:nvSpPr>
        <p:spPr>
          <a:xfrm>
            <a:off x="1366977" y="3227638"/>
            <a:ext cx="1911928" cy="2821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obstructions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D55A40-39DE-99C3-6E7C-EEEE3F7FBF62}"/>
              </a:ext>
            </a:extLst>
          </p:cNvPr>
          <p:cNvCxnSpPr>
            <a:cxnSpLocks/>
          </p:cNvCxnSpPr>
          <p:nvPr/>
        </p:nvCxnSpPr>
        <p:spPr>
          <a:xfrm>
            <a:off x="1172066" y="3131152"/>
            <a:ext cx="0" cy="223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EBF02D3-5A72-114D-6C13-59FAE5B5631A}"/>
              </a:ext>
            </a:extLst>
          </p:cNvPr>
          <p:cNvCxnSpPr>
            <a:cxnSpLocks/>
          </p:cNvCxnSpPr>
          <p:nvPr/>
        </p:nvCxnSpPr>
        <p:spPr>
          <a:xfrm flipV="1">
            <a:off x="1172059" y="3381321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92A89C2-030D-F6F7-D305-615205ADFFCA}"/>
              </a:ext>
            </a:extLst>
          </p:cNvPr>
          <p:cNvCxnSpPr>
            <a:cxnSpLocks/>
          </p:cNvCxnSpPr>
          <p:nvPr/>
        </p:nvCxnSpPr>
        <p:spPr>
          <a:xfrm flipV="1">
            <a:off x="1181293" y="5368689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19AD7B4-5BAB-EE52-971E-62B72947BF83}"/>
              </a:ext>
            </a:extLst>
          </p:cNvPr>
          <p:cNvSpPr/>
          <p:nvPr/>
        </p:nvSpPr>
        <p:spPr>
          <a:xfrm>
            <a:off x="1362365" y="5208839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applicable region</a:t>
            </a:r>
          </a:p>
          <a:p>
            <a:pPr algn="ctr"/>
            <a:r>
              <a:rPr lang="en-US" sz="1200" dirty="0"/>
              <a:t>(see Region Info 2/4)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72D0A8-E773-FD6F-2407-399801B36782}"/>
              </a:ext>
            </a:extLst>
          </p:cNvPr>
          <p:cNvSpPr/>
          <p:nvPr/>
        </p:nvSpPr>
        <p:spPr>
          <a:xfrm>
            <a:off x="1694862" y="3601718"/>
            <a:ext cx="1911928" cy="2940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D200C0E-BA01-6987-17E7-196BCB42A1E8}"/>
              </a:ext>
            </a:extLst>
          </p:cNvPr>
          <p:cNvCxnSpPr>
            <a:cxnSpLocks/>
          </p:cNvCxnSpPr>
          <p:nvPr/>
        </p:nvCxnSpPr>
        <p:spPr>
          <a:xfrm flipV="1">
            <a:off x="1499944" y="3727693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ED46EB2-E4E1-933F-2200-68D7A74AC02A}"/>
              </a:ext>
            </a:extLst>
          </p:cNvPr>
          <p:cNvSpPr/>
          <p:nvPr/>
        </p:nvSpPr>
        <p:spPr>
          <a:xfrm>
            <a:off x="1705166" y="4011861"/>
            <a:ext cx="1911928" cy="2752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description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47CAE60-A51F-417C-DA78-4FE0F023BC3E}"/>
              </a:ext>
            </a:extLst>
          </p:cNvPr>
          <p:cNvCxnSpPr>
            <a:cxnSpLocks/>
          </p:cNvCxnSpPr>
          <p:nvPr/>
        </p:nvCxnSpPr>
        <p:spPr>
          <a:xfrm flipV="1">
            <a:off x="1518414" y="4154114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7BF774-9AF1-A7A6-F7C9-EBADFA379048}"/>
              </a:ext>
            </a:extLst>
          </p:cNvPr>
          <p:cNvCxnSpPr>
            <a:cxnSpLocks/>
          </p:cNvCxnSpPr>
          <p:nvPr/>
        </p:nvCxnSpPr>
        <p:spPr>
          <a:xfrm>
            <a:off x="1499955" y="3468278"/>
            <a:ext cx="8277" cy="685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E24A3BC-CDE2-0517-098B-7AFC0DA0E396}"/>
              </a:ext>
            </a:extLst>
          </p:cNvPr>
          <p:cNvSpPr/>
          <p:nvPr/>
        </p:nvSpPr>
        <p:spPr>
          <a:xfrm>
            <a:off x="1380833" y="4802448"/>
            <a:ext cx="1911928" cy="3047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anomalous traffic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B5A477C8-F4D1-A23C-3DD3-9070C178CEC8}"/>
              </a:ext>
            </a:extLst>
          </p:cNvPr>
          <p:cNvCxnSpPr>
            <a:cxnSpLocks/>
          </p:cNvCxnSpPr>
          <p:nvPr/>
        </p:nvCxnSpPr>
        <p:spPr>
          <a:xfrm flipV="1">
            <a:off x="1185915" y="4956131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A42FEC5-08D2-B54E-A5C9-8D0DCC5923FB}"/>
              </a:ext>
            </a:extLst>
          </p:cNvPr>
          <p:cNvSpPr/>
          <p:nvPr/>
        </p:nvSpPr>
        <p:spPr>
          <a:xfrm>
            <a:off x="1376220" y="4391432"/>
            <a:ext cx="1911928" cy="3047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people present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97A991B-80ED-1775-5D11-F1854DCA1699}"/>
              </a:ext>
            </a:extLst>
          </p:cNvPr>
          <p:cNvCxnSpPr>
            <a:cxnSpLocks/>
          </p:cNvCxnSpPr>
          <p:nvPr/>
        </p:nvCxnSpPr>
        <p:spPr>
          <a:xfrm flipV="1">
            <a:off x="1181302" y="4545115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6D1F64A-137F-E1E6-3F87-476E8682C088}"/>
              </a:ext>
            </a:extLst>
          </p:cNvPr>
          <p:cNvSpPr/>
          <p:nvPr/>
        </p:nvSpPr>
        <p:spPr>
          <a:xfrm>
            <a:off x="1338323" y="6065159"/>
            <a:ext cx="1911928" cy="2821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responder type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013B7C-8A0B-7BD0-0521-8F9EAA787B50}"/>
              </a:ext>
            </a:extLst>
          </p:cNvPr>
          <p:cNvCxnSpPr>
            <a:cxnSpLocks/>
          </p:cNvCxnSpPr>
          <p:nvPr/>
        </p:nvCxnSpPr>
        <p:spPr>
          <a:xfrm flipH="1">
            <a:off x="1143405" y="5968673"/>
            <a:ext cx="7" cy="630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AB47821-D4FF-797B-D7F4-17B9B1011F54}"/>
              </a:ext>
            </a:extLst>
          </p:cNvPr>
          <p:cNvCxnSpPr>
            <a:cxnSpLocks/>
          </p:cNvCxnSpPr>
          <p:nvPr/>
        </p:nvCxnSpPr>
        <p:spPr>
          <a:xfrm flipV="1">
            <a:off x="1143405" y="6218842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33DF09F-D5D2-FB31-78F5-B454819CC411}"/>
              </a:ext>
            </a:extLst>
          </p:cNvPr>
          <p:cNvCxnSpPr>
            <a:cxnSpLocks/>
          </p:cNvCxnSpPr>
          <p:nvPr/>
        </p:nvCxnSpPr>
        <p:spPr>
          <a:xfrm flipV="1">
            <a:off x="1152639" y="6599087"/>
            <a:ext cx="18473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4EBC170-CDE2-2DA9-6409-6EBB1EA46163}"/>
              </a:ext>
            </a:extLst>
          </p:cNvPr>
          <p:cNvSpPr/>
          <p:nvPr/>
        </p:nvSpPr>
        <p:spPr>
          <a:xfrm>
            <a:off x="1333711" y="6439237"/>
            <a:ext cx="1911928" cy="352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incident location</a:t>
            </a:r>
          </a:p>
          <a:p>
            <a:pPr algn="ctr"/>
            <a:r>
              <a:rPr lang="en-US" sz="1200" dirty="0"/>
              <a:t>(see Region Info 2/4)</a:t>
            </a:r>
          </a:p>
        </p:txBody>
      </p:sp>
    </p:spTree>
    <p:extLst>
      <p:ext uri="{BB962C8B-B14F-4D97-AF65-F5344CB8AC3E}">
        <p14:creationId xmlns:p14="http://schemas.microsoft.com/office/powerpoint/2010/main" val="341173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1752</TotalTime>
  <Words>838</Words>
  <Application>Microsoft Office PowerPoint</Application>
  <PresentationFormat>On-screen Show (4:3)</PresentationFormat>
  <Paragraphs>303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– CWZ Standard –  Diagrams</vt:lpstr>
      <vt:lpstr>CWZ Reference Architecture</vt:lpstr>
      <vt:lpstr>PowerPoint Presentation</vt:lpstr>
      <vt:lpstr>PowerPoint Presentation</vt:lpstr>
      <vt:lpstr>ARC-IT Service Package Diagram</vt:lpstr>
      <vt:lpstr>PowerPoint Presentation</vt:lpstr>
      <vt:lpstr>CWZ Standard ConOps</vt:lpstr>
      <vt:lpstr>PowerPoint Presentation</vt:lpstr>
      <vt:lpstr>WZDX Work Zone Feed</vt:lpstr>
      <vt:lpstr>PowerPoint Presentation</vt:lpstr>
      <vt:lpstr>WZDX Work Zone Device Feed</vt:lpstr>
      <vt:lpstr>PowerPoint Presentation</vt:lpstr>
      <vt:lpstr>PowerPoint Presentation</vt:lpstr>
      <vt:lpstr>PowerPoint Presentation</vt:lpstr>
      <vt:lpstr>J2945/4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GTFS to Calculate VRM/VRH</dc:title>
  <dc:creator>Manny Insignares</dc:creator>
  <cp:lastModifiedBy>manny.insignares</cp:lastModifiedBy>
  <cp:revision>248</cp:revision>
  <dcterms:created xsi:type="dcterms:W3CDTF">2022-09-26T21:40:15Z</dcterms:created>
  <dcterms:modified xsi:type="dcterms:W3CDTF">2026-09-20T15:24:47Z</dcterms:modified>
</cp:coreProperties>
</file>